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1" i="0">
                <a:solidFill>
                  <a:srgbClr val="F6F6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F6F6F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1" i="0">
                <a:solidFill>
                  <a:srgbClr val="F6F6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F6F6F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1" i="0">
                <a:solidFill>
                  <a:srgbClr val="F6F6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1" i="0">
                <a:solidFill>
                  <a:srgbClr val="F6F6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2200" y="447738"/>
            <a:ext cx="6849745" cy="1899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1" i="0">
                <a:solidFill>
                  <a:srgbClr val="F6F6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2200" y="2965481"/>
            <a:ext cx="5942965" cy="1866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F6F6F6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2200" y="447738"/>
            <a:ext cx="3955415" cy="273812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1620"/>
              </a:spcBef>
            </a:pPr>
            <a:r>
              <a:rPr spc="-270" dirty="0"/>
              <a:t>Cuando</a:t>
            </a:r>
            <a:r>
              <a:rPr spc="-635" dirty="0"/>
              <a:t> </a:t>
            </a:r>
            <a:r>
              <a:rPr spc="90" dirty="0"/>
              <a:t>la </a:t>
            </a:r>
            <a:r>
              <a:rPr spc="-10" dirty="0"/>
              <a:t>tierra tiembla...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2200" y="5670581"/>
            <a:ext cx="2500630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0" dirty="0">
                <a:solidFill>
                  <a:srgbClr val="F6F6F6"/>
                </a:solidFill>
                <a:latin typeface="Lucida Sans Unicode"/>
                <a:cs typeface="Lucida Sans Unicode"/>
              </a:rPr>
              <a:t>Cada</a:t>
            </a:r>
            <a:r>
              <a:rPr sz="1900" spc="-7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lang="es-ES" sz="19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segunda cuenta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.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100" spc="70" dirty="0">
                <a:solidFill>
                  <a:srgbClr val="F6F6F6"/>
                </a:solidFill>
                <a:latin typeface="Courier New"/>
                <a:cs typeface="Courier New"/>
              </a:rPr>
              <a:t>RESPUESTA</a:t>
            </a:r>
            <a:r>
              <a:rPr sz="1100" spc="200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60" dirty="0">
                <a:solidFill>
                  <a:srgbClr val="F6F6F6"/>
                </a:solidFill>
                <a:latin typeface="Courier New"/>
                <a:cs typeface="Courier New"/>
              </a:rPr>
              <a:t>ANTE</a:t>
            </a:r>
            <a:r>
              <a:rPr sz="1100" spc="200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65" dirty="0">
                <a:solidFill>
                  <a:srgbClr val="F6F6F6"/>
                </a:solidFill>
                <a:latin typeface="Courier New"/>
                <a:cs typeface="Courier New"/>
              </a:rPr>
              <a:t>EMERGENCIAS</a:t>
            </a:r>
            <a:endParaRPr sz="1100" dirty="0">
              <a:latin typeface="Courier New"/>
              <a:cs typeface="Courier New"/>
            </a:endParaRPr>
          </a:p>
        </p:txBody>
      </p:sp>
      <p:pic>
        <p:nvPicPr>
          <p:cNvPr id="13" name="object 5">
            <a:extLst>
              <a:ext uri="{FF2B5EF4-FFF2-40B4-BE49-F238E27FC236}">
                <a16:creationId xmlns:a16="http://schemas.microsoft.com/office/drawing/2014/main" id="{8B37FE33-0383-3547-224B-67370736113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4600" y="5029200"/>
            <a:ext cx="1714499" cy="1619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380"/>
              </a:lnSpc>
              <a:spcBef>
                <a:spcPts val="100"/>
              </a:spcBef>
            </a:pPr>
            <a:r>
              <a:rPr spc="-440" dirty="0"/>
              <a:t>¿Quién</a:t>
            </a:r>
            <a:r>
              <a:rPr spc="-615" dirty="0"/>
              <a:t> </a:t>
            </a:r>
            <a:r>
              <a:rPr spc="-350" dirty="0"/>
              <a:t>avisa?</a:t>
            </a:r>
          </a:p>
          <a:p>
            <a:pPr marL="12700">
              <a:lnSpc>
                <a:spcPts val="7380"/>
              </a:lnSpc>
            </a:pPr>
            <a:r>
              <a:rPr spc="-440" dirty="0"/>
              <a:t>¿Quién</a:t>
            </a:r>
            <a:r>
              <a:rPr spc="-615" dirty="0"/>
              <a:t> </a:t>
            </a:r>
            <a:r>
              <a:rPr spc="-385" dirty="0"/>
              <a:t>responde?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2200" y="3387725"/>
            <a:ext cx="6901815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0" dirty="0">
                <a:solidFill>
                  <a:srgbClr val="F6F6F6"/>
                </a:solidFill>
                <a:latin typeface="Tahoma"/>
                <a:cs typeface="Tahoma"/>
              </a:rPr>
              <a:t>+6.300</a:t>
            </a:r>
            <a:r>
              <a:rPr sz="1500" b="1" spc="-45" dirty="0">
                <a:solidFill>
                  <a:srgbClr val="F6F6F6"/>
                </a:solidFill>
                <a:latin typeface="Tahoma"/>
                <a:cs typeface="Tahoma"/>
              </a:rPr>
              <a:t> víctimas</a:t>
            </a:r>
            <a:r>
              <a:rPr sz="1500" b="1" spc="-25" dirty="0">
                <a:solidFill>
                  <a:srgbClr val="F6F6F6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en</a:t>
            </a:r>
            <a:r>
              <a:rPr sz="15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Venezuela</a:t>
            </a:r>
            <a:r>
              <a:rPr sz="15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por </a:t>
            </a:r>
            <a:r>
              <a:rPr sz="1500" spc="-30" dirty="0">
                <a:solidFill>
                  <a:srgbClr val="F6F6F6"/>
                </a:solidFill>
                <a:latin typeface="Lucida Sans Unicode"/>
                <a:cs typeface="Lucida Sans Unicode"/>
              </a:rPr>
              <a:t>respuesta</a:t>
            </a:r>
            <a:r>
              <a:rPr sz="15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tardía</a:t>
            </a:r>
            <a:r>
              <a:rPr sz="15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6F6F6"/>
                </a:solidFill>
                <a:latin typeface="Lucida Sans Unicode"/>
                <a:cs typeface="Lucida Sans Unicode"/>
              </a:rPr>
              <a:t>ante</a:t>
            </a:r>
            <a:r>
              <a:rPr sz="1500" spc="-5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30" dirty="0">
                <a:solidFill>
                  <a:srgbClr val="F6F6F6"/>
                </a:solidFill>
                <a:latin typeface="Lucida Sans Unicode"/>
                <a:cs typeface="Lucida Sans Unicode"/>
              </a:rPr>
              <a:t>sismos</a:t>
            </a:r>
            <a:r>
              <a:rPr sz="15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simultáneos.</a:t>
            </a:r>
            <a:endParaRPr sz="1500">
              <a:latin typeface="Lucida Sans Unicode"/>
              <a:cs typeface="Lucida Sans Unicode"/>
            </a:endParaRPr>
          </a:p>
          <a:p>
            <a:pPr marL="12700" marR="5080">
              <a:lnSpc>
                <a:spcPct val="120800"/>
              </a:lnSpc>
              <a:spcBef>
                <a:spcPts val="1350"/>
              </a:spcBef>
            </a:pPr>
            <a:r>
              <a:rPr sz="1500" b="1" spc="-90" dirty="0">
                <a:solidFill>
                  <a:srgbClr val="F6F6F6"/>
                </a:solidFill>
                <a:latin typeface="Tahoma"/>
                <a:cs typeface="Tahoma"/>
              </a:rPr>
              <a:t>+480k</a:t>
            </a:r>
            <a:r>
              <a:rPr sz="1500" b="1" spc="-30" dirty="0">
                <a:solidFill>
                  <a:srgbClr val="F6F6F6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F6F6F6"/>
                </a:solidFill>
                <a:latin typeface="Tahoma"/>
                <a:cs typeface="Tahoma"/>
              </a:rPr>
              <a:t>damnificados</a:t>
            </a:r>
            <a:r>
              <a:rPr sz="1500" b="1" spc="-10" dirty="0">
                <a:solidFill>
                  <a:srgbClr val="F6F6F6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en</a:t>
            </a:r>
            <a:r>
              <a:rPr sz="15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Colombia</a:t>
            </a:r>
            <a:r>
              <a:rPr sz="15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65" dirty="0">
                <a:solidFill>
                  <a:srgbClr val="F6F6F6"/>
                </a:solidFill>
                <a:latin typeface="Lucida Sans Unicode"/>
                <a:cs typeface="Lucida Sans Unicode"/>
              </a:rPr>
              <a:t>distribuidos</a:t>
            </a:r>
            <a:r>
              <a:rPr sz="15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en</a:t>
            </a:r>
            <a:r>
              <a:rPr sz="15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220" dirty="0">
                <a:solidFill>
                  <a:srgbClr val="F6F6F6"/>
                </a:solidFill>
                <a:latin typeface="Lucida Sans Unicode"/>
                <a:cs typeface="Lucida Sans Unicode"/>
              </a:rPr>
              <a:t>16</a:t>
            </a:r>
            <a:r>
              <a:rPr sz="15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departamentos</a:t>
            </a:r>
            <a:r>
              <a:rPr sz="15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55" dirty="0">
                <a:solidFill>
                  <a:srgbClr val="F6F6F6"/>
                </a:solidFill>
                <a:latin typeface="Lucida Sans Unicode"/>
                <a:cs typeface="Lucida Sans Unicode"/>
              </a:rPr>
              <a:t>sin</a:t>
            </a:r>
            <a:r>
              <a:rPr sz="15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enlace unificado.</a:t>
            </a:r>
            <a:endParaRPr sz="1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Lucida Sans Unicode"/>
              <a:cs typeface="Lucida Sans Unicode"/>
            </a:endParaRPr>
          </a:p>
          <a:p>
            <a:pPr marL="12700" marR="74295">
              <a:lnSpc>
                <a:spcPct val="120800"/>
              </a:lnSpc>
            </a:pPr>
            <a:r>
              <a:rPr sz="1500" b="1" spc="-60" dirty="0">
                <a:solidFill>
                  <a:srgbClr val="F6F6F6"/>
                </a:solidFill>
                <a:latin typeface="Tahoma"/>
                <a:cs typeface="Tahoma"/>
              </a:rPr>
              <a:t>525</a:t>
            </a:r>
            <a:r>
              <a:rPr sz="1500" b="1" spc="-55" dirty="0">
                <a:solidFill>
                  <a:srgbClr val="F6F6F6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F6F6F6"/>
                </a:solidFill>
                <a:latin typeface="Tahoma"/>
                <a:cs typeface="Tahoma"/>
              </a:rPr>
              <a:t>distritos</a:t>
            </a:r>
            <a:r>
              <a:rPr sz="1500" b="1" spc="-40" dirty="0">
                <a:solidFill>
                  <a:srgbClr val="F6F6F6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en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emergencia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crítica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en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F6F6F6"/>
                </a:solidFill>
                <a:latin typeface="Lucida Sans Unicode"/>
                <a:cs typeface="Lucida Sans Unicode"/>
              </a:rPr>
              <a:t>Perú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colapsando</a:t>
            </a:r>
            <a:r>
              <a:rPr sz="1500" spc="-7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6F6F6"/>
                </a:solidFill>
                <a:latin typeface="Lucida Sans Unicode"/>
                <a:cs typeface="Lucida Sans Unicode"/>
              </a:rPr>
              <a:t>los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6F6F6"/>
                </a:solidFill>
                <a:latin typeface="Lucida Sans Unicode"/>
                <a:cs typeface="Lucida Sans Unicode"/>
              </a:rPr>
              <a:t>canales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20" dirty="0">
                <a:solidFill>
                  <a:srgbClr val="F6F6F6"/>
                </a:solidFill>
                <a:latin typeface="Lucida Sans Unicode"/>
                <a:cs typeface="Lucida Sans Unicode"/>
              </a:rPr>
              <a:t>locales</a:t>
            </a:r>
            <a:r>
              <a:rPr sz="15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F6F6F6"/>
                </a:solidFill>
                <a:latin typeface="Lucida Sans Unicode"/>
                <a:cs typeface="Lucida Sans Unicode"/>
              </a:rPr>
              <a:t>de </a:t>
            </a:r>
            <a:r>
              <a:rPr sz="15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alerta.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200" y="6124638"/>
            <a:ext cx="336105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6F6F6"/>
                </a:solidFill>
                <a:latin typeface="Courier New"/>
                <a:cs typeface="Courier New"/>
              </a:rPr>
              <a:t>LA</a:t>
            </a:r>
            <a:r>
              <a:rPr sz="1100" spc="210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70" dirty="0">
                <a:solidFill>
                  <a:srgbClr val="F6F6F6"/>
                </a:solidFill>
                <a:latin typeface="Courier New"/>
                <a:cs typeface="Courier New"/>
              </a:rPr>
              <a:t>DECISIÓN</a:t>
            </a:r>
            <a:r>
              <a:rPr sz="1100" spc="210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70" dirty="0">
                <a:solidFill>
                  <a:srgbClr val="F6F6F6"/>
                </a:solidFill>
                <a:latin typeface="Courier New"/>
                <a:cs typeface="Courier New"/>
              </a:rPr>
              <a:t>EMPIEZA</a:t>
            </a:r>
            <a:r>
              <a:rPr sz="1100" spc="215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50" dirty="0">
                <a:solidFill>
                  <a:srgbClr val="F6F6F6"/>
                </a:solidFill>
                <a:latin typeface="Courier New"/>
                <a:cs typeface="Courier New"/>
              </a:rPr>
              <a:t>CON</a:t>
            </a:r>
            <a:r>
              <a:rPr sz="1100" spc="210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65" dirty="0">
                <a:solidFill>
                  <a:srgbClr val="F6F6F6"/>
                </a:solidFill>
                <a:latin typeface="Courier New"/>
                <a:cs typeface="Courier New"/>
              </a:rPr>
              <a:t>INFORMACIÓN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910705" cy="6858000"/>
            <a:chOff x="0" y="0"/>
            <a:chExt cx="691070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905624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900862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9524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6857999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51600" y="428688"/>
            <a:ext cx="3670935" cy="103505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00"/>
              </a:spcBef>
            </a:pPr>
            <a:r>
              <a:rPr sz="3500" spc="-30" dirty="0">
                <a:solidFill>
                  <a:srgbClr val="ECECEC"/>
                </a:solidFill>
                <a:latin typeface="Tahoma"/>
                <a:cs typeface="Tahoma"/>
              </a:rPr>
              <a:t>El</a:t>
            </a:r>
            <a:r>
              <a:rPr sz="3500" spc="-200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165" dirty="0">
                <a:solidFill>
                  <a:srgbClr val="ECECEC"/>
                </a:solidFill>
                <a:latin typeface="Tahoma"/>
                <a:cs typeface="Tahoma"/>
              </a:rPr>
              <a:t>problema</a:t>
            </a:r>
            <a:r>
              <a:rPr sz="3500" spc="-200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185" dirty="0">
                <a:solidFill>
                  <a:srgbClr val="ECECEC"/>
                </a:solidFill>
                <a:latin typeface="Tahoma"/>
                <a:cs typeface="Tahoma"/>
              </a:rPr>
              <a:t>no</a:t>
            </a:r>
            <a:r>
              <a:rPr sz="3500" spc="-200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100" dirty="0">
                <a:solidFill>
                  <a:srgbClr val="ECECEC"/>
                </a:solidFill>
                <a:latin typeface="Tahoma"/>
                <a:cs typeface="Tahoma"/>
              </a:rPr>
              <a:t>es </a:t>
            </a:r>
            <a:r>
              <a:rPr sz="3500" spc="-114" dirty="0">
                <a:solidFill>
                  <a:srgbClr val="ECECEC"/>
                </a:solidFill>
                <a:latin typeface="Tahoma"/>
                <a:cs typeface="Tahoma"/>
              </a:rPr>
              <a:t>solo</a:t>
            </a:r>
            <a:r>
              <a:rPr sz="3500" spc="-190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114" dirty="0">
                <a:solidFill>
                  <a:srgbClr val="ECECEC"/>
                </a:solidFill>
                <a:latin typeface="Tahoma"/>
                <a:cs typeface="Tahoma"/>
              </a:rPr>
              <a:t>el</a:t>
            </a:r>
            <a:r>
              <a:rPr sz="3500" spc="-185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155" dirty="0">
                <a:solidFill>
                  <a:srgbClr val="ECECEC"/>
                </a:solidFill>
                <a:latin typeface="Tahoma"/>
                <a:cs typeface="Tahoma"/>
              </a:rPr>
              <a:t>terremoto.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51600" y="1638363"/>
            <a:ext cx="20224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B4B4B4"/>
                </a:solidFill>
                <a:latin typeface="Courier New"/>
                <a:cs typeface="Courier New"/>
              </a:rPr>
              <a:t>LO</a:t>
            </a:r>
            <a:r>
              <a:rPr sz="1100" spc="220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spc="50" dirty="0">
                <a:solidFill>
                  <a:srgbClr val="B4B4B4"/>
                </a:solidFill>
                <a:latin typeface="Courier New"/>
                <a:cs typeface="Courier New"/>
              </a:rPr>
              <a:t>QUE</a:t>
            </a:r>
            <a:r>
              <a:rPr sz="1100" spc="220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spc="65" dirty="0">
                <a:solidFill>
                  <a:srgbClr val="B4B4B4"/>
                </a:solidFill>
                <a:latin typeface="Courier New"/>
                <a:cs typeface="Courier New"/>
              </a:rPr>
              <a:t>OCURRE</a:t>
            </a:r>
            <a:r>
              <a:rPr sz="1100" spc="220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spc="60" dirty="0">
                <a:solidFill>
                  <a:srgbClr val="B4B4B4"/>
                </a:solidFill>
                <a:latin typeface="Courier New"/>
                <a:cs typeface="Courier New"/>
              </a:rPr>
              <a:t>DESPUÉS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61200" y="2003456"/>
            <a:ext cx="3463925" cy="406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Terremoto</a:t>
            </a:r>
            <a:endParaRPr sz="19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50"/>
              </a:spcBef>
            </a:pP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9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Infraestructura</a:t>
            </a:r>
            <a:r>
              <a:rPr sz="1900" spc="-2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dañada</a:t>
            </a:r>
            <a:endParaRPr sz="19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322400"/>
              </a:lnSpc>
              <a:spcBef>
                <a:spcPts val="75"/>
              </a:spcBef>
            </a:pPr>
            <a:r>
              <a:rPr sz="1900" spc="-75" dirty="0">
                <a:solidFill>
                  <a:srgbClr val="D5D5D5"/>
                </a:solidFill>
                <a:latin typeface="Lucida Sans Unicode"/>
                <a:cs typeface="Lucida Sans Unicode"/>
              </a:rPr>
              <a:t>Comunicaciones</a:t>
            </a:r>
            <a:r>
              <a:rPr sz="19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900" spc="-45" dirty="0" err="1">
                <a:solidFill>
                  <a:srgbClr val="D5D5D5"/>
                </a:solidFill>
                <a:latin typeface="Lucida Sans Unicode"/>
                <a:cs typeface="Lucida Sans Unicode"/>
              </a:rPr>
              <a:t>interrumpidas</a:t>
            </a:r>
            <a:r>
              <a:rPr sz="19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endParaRPr lang="en-US" sz="1900" spc="-45" dirty="0">
              <a:solidFill>
                <a:srgbClr val="D5D5D5"/>
              </a:solidFill>
              <a:latin typeface="Lucida Sans Unicode"/>
              <a:cs typeface="Lucida Sans Unicode"/>
            </a:endParaRPr>
          </a:p>
          <a:p>
            <a:pPr marL="12700" marR="5080">
              <a:lnSpc>
                <a:spcPct val="322400"/>
              </a:lnSpc>
              <a:spcBef>
                <a:spcPts val="75"/>
              </a:spcBef>
            </a:pPr>
            <a:r>
              <a:rPr sz="1900" spc="-20" dirty="0">
                <a:solidFill>
                  <a:srgbClr val="D5D5D5"/>
                </a:solidFill>
                <a:latin typeface="Lucida Sans Unicode"/>
                <a:cs typeface="Lucida Sans Unicode"/>
              </a:rPr>
              <a:t>Personas</a:t>
            </a:r>
            <a:r>
              <a:rPr sz="1900" spc="-9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aisladas</a:t>
            </a:r>
            <a:endParaRPr sz="19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Respuesta</a:t>
            </a:r>
            <a:r>
              <a:rPr sz="1900" spc="-8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5D5D5"/>
                </a:solidFill>
                <a:latin typeface="Lucida Sans Unicode"/>
                <a:cs typeface="Lucida Sans Unicode"/>
              </a:rPr>
              <a:t>lenta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64892" y="2537308"/>
            <a:ext cx="4419600" cy="9525"/>
          </a:xfrm>
          <a:custGeom>
            <a:avLst/>
            <a:gdLst/>
            <a:ahLst/>
            <a:cxnLst/>
            <a:rect l="l" t="t" r="r" b="b"/>
            <a:pathLst>
              <a:path w="4419600" h="9525">
                <a:moveTo>
                  <a:pt x="4419599" y="9524"/>
                </a:moveTo>
                <a:lnTo>
                  <a:pt x="0" y="9524"/>
                </a:lnTo>
                <a:lnTo>
                  <a:pt x="0" y="0"/>
                </a:lnTo>
                <a:lnTo>
                  <a:pt x="4419599" y="0"/>
                </a:lnTo>
                <a:lnTo>
                  <a:pt x="4419599" y="9524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51600" y="3466350"/>
            <a:ext cx="4419600" cy="9525"/>
          </a:xfrm>
          <a:custGeom>
            <a:avLst/>
            <a:gdLst/>
            <a:ahLst/>
            <a:cxnLst/>
            <a:rect l="l" t="t" r="r" b="b"/>
            <a:pathLst>
              <a:path w="4419600" h="9525">
                <a:moveTo>
                  <a:pt x="4419599" y="9524"/>
                </a:moveTo>
                <a:lnTo>
                  <a:pt x="0" y="9524"/>
                </a:lnTo>
                <a:lnTo>
                  <a:pt x="0" y="0"/>
                </a:lnTo>
                <a:lnTo>
                  <a:pt x="4419599" y="0"/>
                </a:lnTo>
                <a:lnTo>
                  <a:pt x="4419599" y="9524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42994" y="4382797"/>
            <a:ext cx="4419600" cy="9525"/>
          </a:xfrm>
          <a:custGeom>
            <a:avLst/>
            <a:gdLst/>
            <a:ahLst/>
            <a:cxnLst/>
            <a:rect l="l" t="t" r="r" b="b"/>
            <a:pathLst>
              <a:path w="4419600" h="9525">
                <a:moveTo>
                  <a:pt x="4419599" y="9524"/>
                </a:moveTo>
                <a:lnTo>
                  <a:pt x="0" y="9524"/>
                </a:lnTo>
                <a:lnTo>
                  <a:pt x="0" y="0"/>
                </a:lnTo>
                <a:lnTo>
                  <a:pt x="4419599" y="0"/>
                </a:lnTo>
                <a:lnTo>
                  <a:pt x="4419599" y="9524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0351" y="5232232"/>
            <a:ext cx="4419600" cy="9525"/>
          </a:xfrm>
          <a:custGeom>
            <a:avLst/>
            <a:gdLst/>
            <a:ahLst/>
            <a:cxnLst/>
            <a:rect l="l" t="t" r="r" b="b"/>
            <a:pathLst>
              <a:path w="4419600" h="9525">
                <a:moveTo>
                  <a:pt x="4419599" y="9524"/>
                </a:moveTo>
                <a:lnTo>
                  <a:pt x="0" y="9524"/>
                </a:lnTo>
                <a:lnTo>
                  <a:pt x="0" y="0"/>
                </a:lnTo>
                <a:lnTo>
                  <a:pt x="4419599" y="0"/>
                </a:lnTo>
                <a:lnTo>
                  <a:pt x="4419599" y="9524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88277" y="6445249"/>
            <a:ext cx="1962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6F6F6"/>
                </a:solidFill>
                <a:latin typeface="Courier New"/>
                <a:cs typeface="Courier New"/>
                <a:hlinkClick r:id="rId3"/>
              </a:rPr>
              <a:t>03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62A5C53-0999-6BC8-A058-D894EA466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994" y="1903525"/>
            <a:ext cx="478569" cy="45464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CC827B8-5BDF-A578-7A46-C61015810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644" y="2829607"/>
            <a:ext cx="425384" cy="35577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392738E-46C2-A1A5-4F2A-C7E937DF7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8775" y="3615260"/>
            <a:ext cx="402063" cy="37433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68AE569-C1F8-9CB5-03D9-B94AB8B238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380" y="4545220"/>
            <a:ext cx="504245" cy="48060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94A4ADD-A3C2-8671-8160-E9854B4AC5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5819" y="5443045"/>
            <a:ext cx="432917" cy="534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0613"/>
            <a:ext cx="779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solidFill>
                  <a:srgbClr val="B4B4B4"/>
                </a:solidFill>
                <a:latin typeface="Courier New"/>
                <a:cs typeface="Courier New"/>
              </a:rPr>
              <a:t>OBJETIVO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736631"/>
            <a:ext cx="4665980" cy="146558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1220"/>
              </a:spcBef>
            </a:pPr>
            <a:r>
              <a:rPr sz="5200" spc="-400" dirty="0"/>
              <a:t>¿Qué</a:t>
            </a:r>
            <a:r>
              <a:rPr sz="5200" spc="-484" dirty="0"/>
              <a:t> </a:t>
            </a:r>
            <a:r>
              <a:rPr sz="5200" spc="-130" dirty="0"/>
              <a:t>queremos </a:t>
            </a:r>
            <a:r>
              <a:rPr sz="5200" spc="-350" dirty="0"/>
              <a:t>resolver?</a:t>
            </a:r>
            <a:endParaRPr sz="5200"/>
          </a:p>
        </p:txBody>
      </p:sp>
      <p:sp>
        <p:nvSpPr>
          <p:cNvPr id="4" name="object 4"/>
          <p:cNvSpPr/>
          <p:nvPr/>
        </p:nvSpPr>
        <p:spPr>
          <a:xfrm>
            <a:off x="609599" y="2400299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2726675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2726675" y="0"/>
                </a:lnTo>
                <a:lnTo>
                  <a:pt x="2743199" y="16523"/>
                </a:lnTo>
                <a:lnTo>
                  <a:pt x="2743199" y="21576"/>
                </a:lnTo>
                <a:lnTo>
                  <a:pt x="2729105" y="37616"/>
                </a:lnTo>
                <a:lnTo>
                  <a:pt x="2726675" y="38099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899" y="2604770"/>
            <a:ext cx="10472420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18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Reducir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D5D5D5"/>
                </a:solidFill>
                <a:latin typeface="Lucida Sans Unicode"/>
                <a:cs typeface="Lucida Sans Unicode"/>
              </a:rPr>
              <a:t>el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tiempo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D5D5D5"/>
                </a:solidFill>
                <a:latin typeface="Lucida Sans Unicode"/>
                <a:cs typeface="Lucida Sans Unicode"/>
              </a:rPr>
              <a:t>entre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D5D5D5"/>
                </a:solidFill>
                <a:latin typeface="Lucida Sans Unicode"/>
                <a:cs typeface="Lucida Sans Unicode"/>
              </a:rPr>
              <a:t>el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momento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en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que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ocurre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una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emergencia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D5D5D5"/>
                </a:solidFill>
                <a:latin typeface="Lucida Sans Unicode"/>
                <a:cs typeface="Lucida Sans Unicode"/>
              </a:rPr>
              <a:t>y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D5D5D5"/>
                </a:solidFill>
                <a:latin typeface="Lucida Sans Unicode"/>
                <a:cs typeface="Lucida Sans Unicode"/>
              </a:rPr>
              <a:t>el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momento</a:t>
            </a:r>
            <a:r>
              <a:rPr sz="1800" spc="-8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en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que</a:t>
            </a:r>
            <a:r>
              <a:rPr sz="1800" spc="-8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D5D5D5"/>
                </a:solidFill>
                <a:latin typeface="Lucida Sans Unicode"/>
                <a:cs typeface="Lucida Sans Unicode"/>
              </a:rPr>
              <a:t>podemos </a:t>
            </a:r>
            <a:r>
              <a:rPr sz="18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detectarla,</a:t>
            </a:r>
            <a:r>
              <a:rPr sz="18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localizarla</a:t>
            </a:r>
            <a:r>
              <a:rPr sz="18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D5D5D5"/>
                </a:solidFill>
                <a:latin typeface="Lucida Sans Unicode"/>
                <a:cs typeface="Lucida Sans Unicode"/>
              </a:rPr>
              <a:t>y</a:t>
            </a:r>
            <a:r>
              <a:rPr sz="18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responder.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914774"/>
            <a:ext cx="3762375" cy="2943225"/>
          </a:xfrm>
          <a:custGeom>
            <a:avLst/>
            <a:gdLst/>
            <a:ahLst/>
            <a:cxnLst/>
            <a:rect l="l" t="t" r="r" b="b"/>
            <a:pathLst>
              <a:path w="3762375" h="2943225">
                <a:moveTo>
                  <a:pt x="3762374" y="2943224"/>
                </a:moveTo>
                <a:lnTo>
                  <a:pt x="0" y="2943224"/>
                </a:lnTo>
                <a:lnTo>
                  <a:pt x="0" y="0"/>
                </a:lnTo>
                <a:lnTo>
                  <a:pt x="3762374" y="0"/>
                </a:lnTo>
                <a:lnTo>
                  <a:pt x="3762374" y="2943224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6899" y="4473575"/>
            <a:ext cx="219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5" dirty="0">
                <a:solidFill>
                  <a:srgbClr val="D5D5D5"/>
                </a:solidFill>
                <a:latin typeface="Arial"/>
                <a:cs typeface="Arial"/>
              </a:rPr>
              <a:t>01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9599" y="4791074"/>
            <a:ext cx="2543175" cy="19050"/>
          </a:xfrm>
          <a:custGeom>
            <a:avLst/>
            <a:gdLst/>
            <a:ahLst/>
            <a:cxnLst/>
            <a:rect l="l" t="t" r="r" b="b"/>
            <a:pathLst>
              <a:path w="2543175" h="19050">
                <a:moveTo>
                  <a:pt x="2543174" y="19049"/>
                </a:moveTo>
                <a:lnTo>
                  <a:pt x="0" y="19049"/>
                </a:lnTo>
                <a:lnTo>
                  <a:pt x="0" y="0"/>
                </a:lnTo>
                <a:lnTo>
                  <a:pt x="2543174" y="0"/>
                </a:lnTo>
                <a:lnTo>
                  <a:pt x="2543174" y="19049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6899" y="4908581"/>
            <a:ext cx="2324735" cy="109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Detectar</a:t>
            </a:r>
            <a:endParaRPr sz="2500">
              <a:latin typeface="Lucida Sans Unicode"/>
              <a:cs typeface="Lucida Sans Unicode"/>
            </a:endParaRPr>
          </a:p>
          <a:p>
            <a:pPr marL="12700" marR="5080">
              <a:lnSpc>
                <a:spcPct val="120800"/>
              </a:lnSpc>
              <a:spcBef>
                <a:spcPts val="1075"/>
              </a:spcBef>
            </a:pP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Reconocer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que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ocurre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D5D5D5"/>
                </a:solidFill>
                <a:latin typeface="Lucida Sans Unicode"/>
                <a:cs typeface="Lucida Sans Unicode"/>
              </a:rPr>
              <a:t>una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emergencia.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19574" y="3914774"/>
            <a:ext cx="3752850" cy="2943225"/>
            <a:chOff x="4219574" y="3914774"/>
            <a:chExt cx="3752850" cy="2943225"/>
          </a:xfrm>
        </p:grpSpPr>
        <p:sp>
          <p:nvSpPr>
            <p:cNvPr id="11" name="object 11"/>
            <p:cNvSpPr/>
            <p:nvPr/>
          </p:nvSpPr>
          <p:spPr>
            <a:xfrm>
              <a:off x="4219574" y="3914774"/>
              <a:ext cx="3752850" cy="2943225"/>
            </a:xfrm>
            <a:custGeom>
              <a:avLst/>
              <a:gdLst/>
              <a:ahLst/>
              <a:cxnLst/>
              <a:rect l="l" t="t" r="r" b="b"/>
              <a:pathLst>
                <a:path w="3752850" h="2943225">
                  <a:moveTo>
                    <a:pt x="3752849" y="2943224"/>
                  </a:moveTo>
                  <a:lnTo>
                    <a:pt x="0" y="2943224"/>
                  </a:lnTo>
                  <a:lnTo>
                    <a:pt x="0" y="0"/>
                  </a:lnTo>
                  <a:lnTo>
                    <a:pt x="3752849" y="0"/>
                  </a:lnTo>
                  <a:lnTo>
                    <a:pt x="3752849" y="2943224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9174" y="4791074"/>
              <a:ext cx="2533650" cy="19050"/>
            </a:xfrm>
            <a:custGeom>
              <a:avLst/>
              <a:gdLst/>
              <a:ahLst/>
              <a:cxnLst/>
              <a:rect l="l" t="t" r="r" b="b"/>
              <a:pathLst>
                <a:path w="2533650" h="19050">
                  <a:moveTo>
                    <a:pt x="25336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533649" y="0"/>
                  </a:lnTo>
                  <a:lnTo>
                    <a:pt x="2533649" y="19049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19574" y="3914774"/>
            <a:ext cx="3752850" cy="2943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50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</a:pPr>
            <a:r>
              <a:rPr sz="1500" b="1" spc="60" dirty="0">
                <a:solidFill>
                  <a:srgbClr val="D5D5D5"/>
                </a:solidFill>
                <a:latin typeface="Arial"/>
                <a:cs typeface="Arial"/>
              </a:rPr>
              <a:t>02</a:t>
            </a:r>
            <a:endParaRPr sz="1500">
              <a:latin typeface="Arial"/>
              <a:cs typeface="Arial"/>
            </a:endParaRPr>
          </a:p>
          <a:p>
            <a:pPr marL="605790">
              <a:lnSpc>
                <a:spcPct val="100000"/>
              </a:lnSpc>
              <a:spcBef>
                <a:spcPts val="1625"/>
              </a:spcBef>
            </a:pPr>
            <a:r>
              <a:rPr sz="2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Localizar</a:t>
            </a:r>
            <a:endParaRPr sz="2500">
              <a:latin typeface="Lucida Sans Unicode"/>
              <a:cs typeface="Lucida Sans Unicode"/>
            </a:endParaRPr>
          </a:p>
          <a:p>
            <a:pPr marL="605790" marR="692150">
              <a:lnSpc>
                <a:spcPct val="120800"/>
              </a:lnSpc>
              <a:spcBef>
                <a:spcPts val="1075"/>
              </a:spcBef>
            </a:pPr>
            <a:r>
              <a:rPr sz="1500" spc="-20" dirty="0">
                <a:solidFill>
                  <a:srgbClr val="D5D5D5"/>
                </a:solidFill>
                <a:latin typeface="Lucida Sans Unicode"/>
                <a:cs typeface="Lucida Sans Unicode"/>
              </a:rPr>
              <a:t>Encontrar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zonas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D5D5D5"/>
                </a:solidFill>
                <a:latin typeface="Lucida Sans Unicode"/>
                <a:cs typeface="Lucida Sans Unicode"/>
              </a:rPr>
              <a:t>y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personas 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de</a:t>
            </a:r>
            <a:r>
              <a:rPr sz="15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interés.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29624" y="3914774"/>
            <a:ext cx="3762375" cy="2943225"/>
          </a:xfrm>
          <a:custGeom>
            <a:avLst/>
            <a:gdLst/>
            <a:ahLst/>
            <a:cxnLst/>
            <a:rect l="l" t="t" r="r" b="b"/>
            <a:pathLst>
              <a:path w="3762375" h="2943225">
                <a:moveTo>
                  <a:pt x="3762374" y="2943224"/>
                </a:moveTo>
                <a:lnTo>
                  <a:pt x="0" y="2943224"/>
                </a:lnTo>
                <a:lnTo>
                  <a:pt x="0" y="0"/>
                </a:lnTo>
                <a:lnTo>
                  <a:pt x="3762374" y="0"/>
                </a:lnTo>
                <a:lnTo>
                  <a:pt x="3762374" y="2943224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29650" y="4473575"/>
            <a:ext cx="2603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55" dirty="0">
                <a:solidFill>
                  <a:srgbClr val="D5D5D5"/>
                </a:solidFill>
                <a:latin typeface="Arial"/>
                <a:cs typeface="Arial"/>
              </a:rPr>
              <a:t>03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39224" y="4791074"/>
            <a:ext cx="2543175" cy="19050"/>
          </a:xfrm>
          <a:custGeom>
            <a:avLst/>
            <a:gdLst/>
            <a:ahLst/>
            <a:cxnLst/>
            <a:rect l="l" t="t" r="r" b="b"/>
            <a:pathLst>
              <a:path w="2543175" h="19050">
                <a:moveTo>
                  <a:pt x="2543174" y="19049"/>
                </a:moveTo>
                <a:lnTo>
                  <a:pt x="0" y="19049"/>
                </a:lnTo>
                <a:lnTo>
                  <a:pt x="0" y="0"/>
                </a:lnTo>
                <a:lnTo>
                  <a:pt x="2543174" y="0"/>
                </a:lnTo>
                <a:lnTo>
                  <a:pt x="2543174" y="19049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29650" y="4908581"/>
            <a:ext cx="2344420" cy="109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Responder</a:t>
            </a:r>
            <a:endParaRPr sz="2500">
              <a:latin typeface="Lucida Sans Unicode"/>
              <a:cs typeface="Lucida Sans Unicode"/>
            </a:endParaRPr>
          </a:p>
          <a:p>
            <a:pPr marL="12700" marR="5080">
              <a:lnSpc>
                <a:spcPct val="120800"/>
              </a:lnSpc>
              <a:spcBef>
                <a:spcPts val="1075"/>
              </a:spcBef>
            </a:pPr>
            <a:r>
              <a:rPr sz="1500" spc="-20" dirty="0">
                <a:solidFill>
                  <a:srgbClr val="D5D5D5"/>
                </a:solidFill>
                <a:latin typeface="Lucida Sans Unicode"/>
                <a:cs typeface="Lucida Sans Unicode"/>
              </a:rPr>
              <a:t>Entregar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información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30" dirty="0">
                <a:solidFill>
                  <a:srgbClr val="D5D5D5"/>
                </a:solidFill>
                <a:latin typeface="Lucida Sans Unicode"/>
                <a:cs typeface="Lucida Sans Unicode"/>
              </a:rPr>
              <a:t>para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actuar.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88277" y="6445249"/>
            <a:ext cx="1962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6F6F6"/>
                </a:solidFill>
                <a:latin typeface="Courier New"/>
                <a:cs typeface="Courier New"/>
                <a:hlinkClick r:id="rId2"/>
              </a:rPr>
              <a:t>04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2200" y="590613"/>
            <a:ext cx="779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solidFill>
                  <a:srgbClr val="F6F6F6"/>
                </a:solidFill>
                <a:latin typeface="Courier New"/>
                <a:cs typeface="Courier New"/>
              </a:rPr>
              <a:t>BIOSCOUT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2200" y="243383"/>
            <a:ext cx="5802630" cy="1941830"/>
          </a:xfrm>
          <a:prstGeom prst="rect">
            <a:avLst/>
          </a:prstGeom>
        </p:spPr>
        <p:txBody>
          <a:bodyPr vert="horz" wrap="square" lIns="0" tIns="4737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29"/>
              </a:spcBef>
            </a:pPr>
            <a:r>
              <a:rPr spc="-320" dirty="0"/>
              <a:t>BioScout</a:t>
            </a: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900" b="0" spc="-65" dirty="0">
                <a:latin typeface="Lucida Sans Unicode"/>
                <a:cs typeface="Lucida Sans Unicode"/>
              </a:rPr>
              <a:t>Inteligencia</a:t>
            </a:r>
            <a:r>
              <a:rPr sz="1900" b="0" spc="-90" dirty="0">
                <a:latin typeface="Lucida Sans Unicode"/>
                <a:cs typeface="Lucida Sans Unicode"/>
              </a:rPr>
              <a:t> </a:t>
            </a:r>
            <a:r>
              <a:rPr sz="1900" b="0" spc="-25" dirty="0">
                <a:latin typeface="Lucida Sans Unicode"/>
                <a:cs typeface="Lucida Sans Unicode"/>
              </a:rPr>
              <a:t>aérea</a:t>
            </a:r>
            <a:r>
              <a:rPr sz="1900" b="0" spc="-90" dirty="0">
                <a:latin typeface="Lucida Sans Unicode"/>
                <a:cs typeface="Lucida Sans Unicode"/>
              </a:rPr>
              <a:t> </a:t>
            </a:r>
            <a:r>
              <a:rPr sz="1900" b="0" spc="-50" dirty="0">
                <a:latin typeface="Lucida Sans Unicode"/>
                <a:cs typeface="Lucida Sans Unicode"/>
              </a:rPr>
              <a:t>para</a:t>
            </a:r>
            <a:r>
              <a:rPr sz="1900" b="0" spc="-85" dirty="0">
                <a:latin typeface="Lucida Sans Unicode"/>
                <a:cs typeface="Lucida Sans Unicode"/>
              </a:rPr>
              <a:t> </a:t>
            </a:r>
            <a:r>
              <a:rPr sz="1900" b="0" spc="-40" dirty="0">
                <a:latin typeface="Lucida Sans Unicode"/>
                <a:cs typeface="Lucida Sans Unicode"/>
              </a:rPr>
              <a:t>respuesta</a:t>
            </a:r>
            <a:r>
              <a:rPr sz="1900" b="0" spc="-90" dirty="0">
                <a:latin typeface="Lucida Sans Unicode"/>
                <a:cs typeface="Lucida Sans Unicode"/>
              </a:rPr>
              <a:t> </a:t>
            </a:r>
            <a:r>
              <a:rPr sz="1900" b="0" spc="-40" dirty="0">
                <a:latin typeface="Lucida Sans Unicode"/>
                <a:cs typeface="Lucida Sans Unicode"/>
              </a:rPr>
              <a:t>ante</a:t>
            </a:r>
            <a:r>
              <a:rPr sz="1900" b="0" spc="-85" dirty="0">
                <a:latin typeface="Lucida Sans Unicode"/>
                <a:cs typeface="Lucida Sans Unicode"/>
              </a:rPr>
              <a:t> </a:t>
            </a:r>
            <a:r>
              <a:rPr sz="1900" b="0" spc="-30" dirty="0">
                <a:latin typeface="Lucida Sans Unicode"/>
                <a:cs typeface="Lucida Sans Unicode"/>
              </a:rPr>
              <a:t>emergencias.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200" y="5967856"/>
            <a:ext cx="490728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Detectar</a:t>
            </a:r>
            <a:r>
              <a:rPr sz="1800" spc="-8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F6F6F6"/>
                </a:solidFill>
                <a:latin typeface="Arial"/>
                <a:cs typeface="Arial"/>
              </a:rPr>
              <a:t>→</a:t>
            </a:r>
            <a:r>
              <a:rPr sz="2000" spc="-17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6F6F6"/>
                </a:solidFill>
                <a:latin typeface="Lucida Sans Unicode"/>
                <a:cs typeface="Lucida Sans Unicode"/>
              </a:rPr>
              <a:t>Analizar</a:t>
            </a:r>
            <a:r>
              <a:rPr sz="18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F6F6F6"/>
                </a:solidFill>
                <a:latin typeface="Arial"/>
                <a:cs typeface="Arial"/>
              </a:rPr>
              <a:t>→</a:t>
            </a:r>
            <a:r>
              <a:rPr sz="2000" spc="-17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6F6F6"/>
                </a:solidFill>
                <a:latin typeface="Lucida Sans Unicode"/>
                <a:cs typeface="Lucida Sans Unicode"/>
              </a:rPr>
              <a:t>Localizar</a:t>
            </a:r>
            <a:r>
              <a:rPr sz="18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2000" spc="-100" dirty="0">
                <a:solidFill>
                  <a:srgbClr val="F6F6F6"/>
                </a:solidFill>
                <a:latin typeface="Arial"/>
                <a:cs typeface="Arial"/>
              </a:rPr>
              <a:t>→</a:t>
            </a:r>
            <a:r>
              <a:rPr sz="2000" spc="-17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Responder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000" y="339725"/>
            <a:ext cx="26949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BIO </a:t>
            </a:r>
            <a:r>
              <a:rPr sz="1500" spc="-90" dirty="0">
                <a:solidFill>
                  <a:srgbClr val="D5D5D5"/>
                </a:solidFill>
                <a:latin typeface="Lucida Sans Unicode"/>
                <a:cs typeface="Lucida Sans Unicode"/>
              </a:rPr>
              <a:t>SCOUT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565" dirty="0">
                <a:solidFill>
                  <a:srgbClr val="D5D5D5"/>
                </a:solidFill>
                <a:latin typeface="Lucida Sans Unicode"/>
                <a:cs typeface="Lucida Sans Unicode"/>
              </a:rPr>
              <a:t>·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FLUJO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OPERATIVO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6000" y="831881"/>
            <a:ext cx="6506209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70" dirty="0"/>
              <a:t>Así</a:t>
            </a:r>
            <a:r>
              <a:rPr sz="5200" spc="-465" dirty="0"/>
              <a:t> </a:t>
            </a:r>
            <a:r>
              <a:rPr sz="5200" spc="-170" dirty="0"/>
              <a:t>funciona</a:t>
            </a:r>
            <a:r>
              <a:rPr sz="5200" spc="-459" dirty="0"/>
              <a:t> </a:t>
            </a:r>
            <a:r>
              <a:rPr sz="5200" spc="-204" dirty="0"/>
              <a:t>BioScout</a:t>
            </a:r>
            <a:endParaRPr sz="5200"/>
          </a:p>
        </p:txBody>
      </p:sp>
      <p:sp>
        <p:nvSpPr>
          <p:cNvPr id="4" name="object 4"/>
          <p:cNvSpPr/>
          <p:nvPr/>
        </p:nvSpPr>
        <p:spPr>
          <a:xfrm>
            <a:off x="561974" y="1847849"/>
            <a:ext cx="3648075" cy="38100"/>
          </a:xfrm>
          <a:custGeom>
            <a:avLst/>
            <a:gdLst/>
            <a:ahLst/>
            <a:cxnLst/>
            <a:rect l="l" t="t" r="r" b="b"/>
            <a:pathLst>
              <a:path w="3648075" h="38100">
                <a:moveTo>
                  <a:pt x="3631550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3631550" y="0"/>
                </a:lnTo>
                <a:lnTo>
                  <a:pt x="3648074" y="16523"/>
                </a:lnTo>
                <a:lnTo>
                  <a:pt x="3648074" y="21576"/>
                </a:lnTo>
                <a:lnTo>
                  <a:pt x="3633980" y="37616"/>
                </a:lnTo>
                <a:lnTo>
                  <a:pt x="3631550" y="38099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2057399"/>
            <a:ext cx="2438400" cy="4800600"/>
            <a:chOff x="0" y="2057399"/>
            <a:chExt cx="2438400" cy="48006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57399"/>
              <a:ext cx="2438399" cy="48005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057399"/>
              <a:ext cx="2438400" cy="4800600"/>
            </a:xfrm>
            <a:custGeom>
              <a:avLst/>
              <a:gdLst/>
              <a:ahLst/>
              <a:cxnLst/>
              <a:rect l="l" t="t" r="r" b="b"/>
              <a:pathLst>
                <a:path w="2438400" h="4800600">
                  <a:moveTo>
                    <a:pt x="2438399" y="4800599"/>
                  </a:moveTo>
                  <a:lnTo>
                    <a:pt x="0" y="4800599"/>
                  </a:lnTo>
                  <a:lnTo>
                    <a:pt x="0" y="0"/>
                  </a:lnTo>
                  <a:lnTo>
                    <a:pt x="2438399" y="0"/>
                  </a:lnTo>
                  <a:lnTo>
                    <a:pt x="2438399" y="4800599"/>
                  </a:lnTo>
                  <a:close/>
                </a:path>
              </a:pathLst>
            </a:custGeom>
            <a:solidFill>
              <a:srgbClr val="000000">
                <a:alpha val="4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1200" y="2241905"/>
            <a:ext cx="1331595" cy="94361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60" dirty="0">
                <a:solidFill>
                  <a:srgbClr val="F6F6F6"/>
                </a:solidFill>
                <a:latin typeface="Courier New"/>
                <a:cs typeface="Courier New"/>
              </a:rPr>
              <a:t>DETECCIÓN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8600"/>
              </a:lnSpc>
              <a:spcBef>
                <a:spcPts val="535"/>
              </a:spcBef>
            </a:pPr>
            <a:r>
              <a:rPr sz="1900" spc="-65" dirty="0">
                <a:solidFill>
                  <a:srgbClr val="F6F6F6"/>
                </a:solidFill>
                <a:latin typeface="Lucida Sans Unicode"/>
                <a:cs typeface="Lucida Sans Unicode"/>
              </a:rPr>
              <a:t>Ocurre</a:t>
            </a:r>
            <a:r>
              <a:rPr sz="1900" spc="-5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6F6F6"/>
                </a:solidFill>
                <a:latin typeface="Lucida Sans Unicode"/>
                <a:cs typeface="Lucida Sans Unicode"/>
              </a:rPr>
              <a:t>una </a:t>
            </a:r>
            <a:r>
              <a:rPr sz="1900" spc="-50" dirty="0">
                <a:solidFill>
                  <a:srgbClr val="F6F6F6"/>
                </a:solidFill>
                <a:latin typeface="Lucida Sans Unicode"/>
                <a:cs typeface="Lucida Sans Unicode"/>
              </a:rPr>
              <a:t>emergencia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38399" y="2057399"/>
            <a:ext cx="2438400" cy="4800600"/>
            <a:chOff x="2438399" y="2057399"/>
            <a:chExt cx="2438400" cy="48006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399" y="2057399"/>
              <a:ext cx="2438399" cy="4800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38399" y="2057399"/>
              <a:ext cx="2438400" cy="4800600"/>
            </a:xfrm>
            <a:custGeom>
              <a:avLst/>
              <a:gdLst/>
              <a:ahLst/>
              <a:cxnLst/>
              <a:rect l="l" t="t" r="r" b="b"/>
              <a:pathLst>
                <a:path w="2438400" h="4800600">
                  <a:moveTo>
                    <a:pt x="2438399" y="4800599"/>
                  </a:moveTo>
                  <a:lnTo>
                    <a:pt x="0" y="4800599"/>
                  </a:lnTo>
                  <a:lnTo>
                    <a:pt x="0" y="0"/>
                  </a:lnTo>
                  <a:lnTo>
                    <a:pt x="2438399" y="0"/>
                  </a:lnTo>
                  <a:lnTo>
                    <a:pt x="2438399" y="4800599"/>
                  </a:lnTo>
                  <a:close/>
                </a:path>
              </a:pathLst>
            </a:custGeom>
            <a:solidFill>
              <a:srgbClr val="000000">
                <a:alpha val="4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79600" y="2241905"/>
            <a:ext cx="1708150" cy="94361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60" dirty="0">
                <a:solidFill>
                  <a:srgbClr val="F6F6F6"/>
                </a:solidFill>
                <a:latin typeface="Courier New"/>
                <a:cs typeface="Courier New"/>
              </a:rPr>
              <a:t>DESPLIEGUE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8600"/>
              </a:lnSpc>
              <a:spcBef>
                <a:spcPts val="535"/>
              </a:spcBef>
            </a:pPr>
            <a:r>
              <a:rPr sz="19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BioScout</a:t>
            </a:r>
            <a:r>
              <a:rPr sz="1900" spc="-10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activa </a:t>
            </a:r>
            <a:r>
              <a:rPr sz="1900" dirty="0">
                <a:solidFill>
                  <a:srgbClr val="F6F6F6"/>
                </a:solidFill>
                <a:latin typeface="Lucida Sans Unicode"/>
                <a:cs typeface="Lucida Sans Unicode"/>
              </a:rPr>
              <a:t>la</a:t>
            </a:r>
            <a:r>
              <a:rPr sz="1900" spc="-11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misión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76799" y="2057399"/>
            <a:ext cx="2438400" cy="4800600"/>
            <a:chOff x="4876799" y="2057399"/>
            <a:chExt cx="2438400" cy="48006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799" y="2057399"/>
              <a:ext cx="2438399" cy="4800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76799" y="2057399"/>
              <a:ext cx="2438400" cy="4800600"/>
            </a:xfrm>
            <a:custGeom>
              <a:avLst/>
              <a:gdLst/>
              <a:ahLst/>
              <a:cxnLst/>
              <a:rect l="l" t="t" r="r" b="b"/>
              <a:pathLst>
                <a:path w="2438400" h="4800600">
                  <a:moveTo>
                    <a:pt x="2438399" y="4800599"/>
                  </a:moveTo>
                  <a:lnTo>
                    <a:pt x="0" y="4800599"/>
                  </a:lnTo>
                  <a:lnTo>
                    <a:pt x="0" y="0"/>
                  </a:lnTo>
                  <a:lnTo>
                    <a:pt x="2438399" y="0"/>
                  </a:lnTo>
                  <a:lnTo>
                    <a:pt x="2438399" y="4800599"/>
                  </a:lnTo>
                  <a:close/>
                </a:path>
              </a:pathLst>
            </a:custGeom>
            <a:solidFill>
              <a:srgbClr val="000000">
                <a:alpha val="4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18000" y="2241905"/>
            <a:ext cx="1179830" cy="126746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60" dirty="0">
                <a:solidFill>
                  <a:srgbClr val="F6F6F6"/>
                </a:solidFill>
                <a:latin typeface="Courier New"/>
                <a:cs typeface="Courier New"/>
              </a:rPr>
              <a:t>PERCEPCIÓN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0200"/>
              </a:lnSpc>
              <a:spcBef>
                <a:spcPts val="500"/>
              </a:spcBef>
            </a:pPr>
            <a:r>
              <a:rPr sz="1900" dirty="0">
                <a:solidFill>
                  <a:srgbClr val="F6F6F6"/>
                </a:solidFill>
                <a:latin typeface="Lucida Sans Unicode"/>
                <a:cs typeface="Lucida Sans Unicode"/>
              </a:rPr>
              <a:t>El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sistema </a:t>
            </a:r>
            <a:r>
              <a:rPr sz="1900" spc="-65" dirty="0">
                <a:solidFill>
                  <a:srgbClr val="F6F6F6"/>
                </a:solidFill>
                <a:latin typeface="Lucida Sans Unicode"/>
                <a:cs typeface="Lucida Sans Unicode"/>
              </a:rPr>
              <a:t>analiza</a:t>
            </a:r>
            <a:r>
              <a:rPr sz="1900" spc="-4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6F6F6"/>
                </a:solidFill>
                <a:latin typeface="Lucida Sans Unicode"/>
                <a:cs typeface="Lucida Sans Unicode"/>
              </a:rPr>
              <a:t>el 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entorno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15199" y="2057399"/>
            <a:ext cx="2438400" cy="4800600"/>
            <a:chOff x="7315199" y="2057399"/>
            <a:chExt cx="2438400" cy="480060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5199" y="2057399"/>
              <a:ext cx="2438399" cy="48005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315199" y="2057399"/>
              <a:ext cx="2438400" cy="4800600"/>
            </a:xfrm>
            <a:custGeom>
              <a:avLst/>
              <a:gdLst/>
              <a:ahLst/>
              <a:cxnLst/>
              <a:rect l="l" t="t" r="r" b="b"/>
              <a:pathLst>
                <a:path w="2438400" h="4800600">
                  <a:moveTo>
                    <a:pt x="2438399" y="4800599"/>
                  </a:moveTo>
                  <a:lnTo>
                    <a:pt x="0" y="4800599"/>
                  </a:lnTo>
                  <a:lnTo>
                    <a:pt x="0" y="0"/>
                  </a:lnTo>
                  <a:lnTo>
                    <a:pt x="2438399" y="0"/>
                  </a:lnTo>
                  <a:lnTo>
                    <a:pt x="2438399" y="4800599"/>
                  </a:lnTo>
                  <a:close/>
                </a:path>
              </a:pathLst>
            </a:custGeom>
            <a:solidFill>
              <a:srgbClr val="000000">
                <a:alpha val="4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556400" y="2241905"/>
            <a:ext cx="1945005" cy="126746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65" dirty="0">
                <a:solidFill>
                  <a:srgbClr val="F6F6F6"/>
                </a:solidFill>
                <a:latin typeface="Courier New"/>
                <a:cs typeface="Courier New"/>
              </a:rPr>
              <a:t>LOCALIZACIÓN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0200"/>
              </a:lnSpc>
              <a:spcBef>
                <a:spcPts val="500"/>
              </a:spcBef>
            </a:pPr>
            <a:r>
              <a:rPr sz="19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Identifica</a:t>
            </a:r>
            <a:r>
              <a:rPr sz="1900" spc="-6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F6F6F6"/>
                </a:solidFill>
                <a:latin typeface="Lucida Sans Unicode"/>
                <a:cs typeface="Lucida Sans Unicode"/>
              </a:rPr>
              <a:t>zonas</a:t>
            </a:r>
            <a:r>
              <a:rPr sz="19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F6F6F6"/>
                </a:solidFill>
                <a:latin typeface="Lucida Sans Unicode"/>
                <a:cs typeface="Lucida Sans Unicode"/>
              </a:rPr>
              <a:t>y </a:t>
            </a:r>
            <a:r>
              <a:rPr sz="19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personas</a:t>
            </a:r>
            <a:r>
              <a:rPr sz="1900" spc="-10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6F6F6"/>
                </a:solidFill>
                <a:latin typeface="Lucida Sans Unicode"/>
                <a:cs typeface="Lucida Sans Unicode"/>
              </a:rPr>
              <a:t>de 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interés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753599" y="2057399"/>
            <a:ext cx="2438400" cy="4800600"/>
            <a:chOff x="9753599" y="2057399"/>
            <a:chExt cx="2438400" cy="480060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3599" y="2057399"/>
              <a:ext cx="2438399" cy="48005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753599" y="2057399"/>
              <a:ext cx="2438400" cy="4800600"/>
            </a:xfrm>
            <a:custGeom>
              <a:avLst/>
              <a:gdLst/>
              <a:ahLst/>
              <a:cxnLst/>
              <a:rect l="l" t="t" r="r" b="b"/>
              <a:pathLst>
                <a:path w="2438400" h="4800600">
                  <a:moveTo>
                    <a:pt x="2438399" y="4800599"/>
                  </a:moveTo>
                  <a:lnTo>
                    <a:pt x="0" y="4800599"/>
                  </a:lnTo>
                  <a:lnTo>
                    <a:pt x="0" y="0"/>
                  </a:lnTo>
                  <a:lnTo>
                    <a:pt x="2438399" y="0"/>
                  </a:lnTo>
                  <a:lnTo>
                    <a:pt x="2438399" y="4800599"/>
                  </a:lnTo>
                  <a:close/>
                </a:path>
              </a:pathLst>
            </a:custGeom>
            <a:solidFill>
              <a:srgbClr val="000000">
                <a:alpha val="4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994800" y="2241905"/>
            <a:ext cx="1808480" cy="158178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65" dirty="0">
                <a:solidFill>
                  <a:srgbClr val="F6F6F6"/>
                </a:solidFill>
                <a:latin typeface="Courier New"/>
                <a:cs typeface="Courier New"/>
              </a:rPr>
              <a:t>COORDINACIÓN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9600"/>
              </a:lnSpc>
              <a:spcBef>
                <a:spcPts val="509"/>
              </a:spcBef>
            </a:pP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Envía información </a:t>
            </a:r>
            <a:r>
              <a:rPr sz="19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táctica</a:t>
            </a:r>
            <a:r>
              <a:rPr sz="1900" spc="-10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6F6F6"/>
                </a:solidFill>
                <a:latin typeface="Lucida Sans Unicode"/>
                <a:cs typeface="Lucida Sans Unicode"/>
              </a:rPr>
              <a:t>al</a:t>
            </a:r>
            <a:r>
              <a:rPr sz="1900" spc="-10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35" dirty="0">
                <a:solidFill>
                  <a:srgbClr val="F6F6F6"/>
                </a:solidFill>
                <a:latin typeface="Lucida Sans Unicode"/>
                <a:cs typeface="Lucida Sans Unicode"/>
              </a:rPr>
              <a:t>centro </a:t>
            </a: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de</a:t>
            </a:r>
            <a:r>
              <a:rPr sz="1900" spc="-9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comando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000" y="485838"/>
            <a:ext cx="2404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75" dirty="0">
                <a:solidFill>
                  <a:srgbClr val="B4B4B4"/>
                </a:solidFill>
                <a:latin typeface="Courier New"/>
                <a:cs typeface="Courier New"/>
              </a:rPr>
              <a:t>ARQUITECTURA</a:t>
            </a:r>
            <a:r>
              <a:rPr sz="1100" spc="225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4B4B4"/>
                </a:solidFill>
                <a:latin typeface="Courier New"/>
                <a:cs typeface="Courier New"/>
              </a:rPr>
              <a:t>DE</a:t>
            </a:r>
            <a:r>
              <a:rPr sz="1100" spc="229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spc="60" dirty="0">
                <a:solidFill>
                  <a:srgbClr val="B4B4B4"/>
                </a:solidFill>
                <a:latin typeface="Courier New"/>
                <a:cs typeface="Courier New"/>
              </a:rPr>
              <a:t>PROTOTIPO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6000" y="695388"/>
            <a:ext cx="2936240" cy="103505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00"/>
              </a:spcBef>
            </a:pPr>
            <a:r>
              <a:rPr sz="3500" spc="-195" dirty="0">
                <a:solidFill>
                  <a:srgbClr val="ECECEC"/>
                </a:solidFill>
                <a:latin typeface="Tahoma"/>
                <a:cs typeface="Tahoma"/>
              </a:rPr>
              <a:t>La </a:t>
            </a:r>
            <a:r>
              <a:rPr sz="3500" spc="-180" dirty="0">
                <a:solidFill>
                  <a:srgbClr val="ECECEC"/>
                </a:solidFill>
                <a:latin typeface="Tahoma"/>
                <a:cs typeface="Tahoma"/>
              </a:rPr>
              <a:t>inteligencia </a:t>
            </a:r>
            <a:r>
              <a:rPr sz="3500" spc="-10" dirty="0">
                <a:solidFill>
                  <a:srgbClr val="ECECEC"/>
                </a:solidFill>
                <a:latin typeface="Tahoma"/>
                <a:cs typeface="Tahoma"/>
              </a:rPr>
              <a:t>detrás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1974" y="1962149"/>
            <a:ext cx="990600" cy="38100"/>
          </a:xfrm>
          <a:custGeom>
            <a:avLst/>
            <a:gdLst/>
            <a:ahLst/>
            <a:cxnLst/>
            <a:rect l="l" t="t" r="r" b="b"/>
            <a:pathLst>
              <a:path w="990600" h="38100">
                <a:moveTo>
                  <a:pt x="974075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974075" y="0"/>
                </a:lnTo>
                <a:lnTo>
                  <a:pt x="990599" y="16523"/>
                </a:lnTo>
                <a:lnTo>
                  <a:pt x="990599" y="21576"/>
                </a:lnTo>
                <a:lnTo>
                  <a:pt x="976505" y="37616"/>
                </a:lnTo>
                <a:lnTo>
                  <a:pt x="974075" y="38099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6000" y="2178050"/>
            <a:ext cx="3648710" cy="8350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60"/>
              </a:spcBef>
            </a:pPr>
            <a:r>
              <a:rPr sz="15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Percepción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(visión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por </a:t>
            </a:r>
            <a:r>
              <a:rPr sz="15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computador)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y 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Decisión</a:t>
            </a:r>
            <a:r>
              <a:rPr sz="15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(IA)</a:t>
            </a:r>
            <a:r>
              <a:rPr sz="15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convergen</a:t>
            </a:r>
            <a:r>
              <a:rPr sz="15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en</a:t>
            </a:r>
            <a:r>
              <a:rPr sz="1500" spc="-7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una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D5D5D5"/>
                </a:solidFill>
                <a:latin typeface="Lucida Sans Unicode"/>
                <a:cs typeface="Lucida Sans Unicode"/>
              </a:rPr>
              <a:t>respuesta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táctica.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47255" y="1446674"/>
            <a:ext cx="2153285" cy="1479550"/>
            <a:chOff x="5447255" y="1446674"/>
            <a:chExt cx="2153285" cy="1479550"/>
          </a:xfrm>
        </p:grpSpPr>
        <p:sp>
          <p:nvSpPr>
            <p:cNvPr id="18" name="object 18"/>
            <p:cNvSpPr/>
            <p:nvPr/>
          </p:nvSpPr>
          <p:spPr>
            <a:xfrm>
              <a:off x="5453208" y="1452628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2141370" y="1467320"/>
                  </a:moveTo>
                  <a:lnTo>
                    <a:pt x="1889175" y="1467320"/>
                  </a:lnTo>
                  <a:lnTo>
                    <a:pt x="1889175" y="1466183"/>
                  </a:lnTo>
                  <a:lnTo>
                    <a:pt x="1883168" y="1466935"/>
                  </a:lnTo>
                  <a:lnTo>
                    <a:pt x="1877042" y="1467320"/>
                  </a:lnTo>
                  <a:lnTo>
                    <a:pt x="1870833" y="1467320"/>
                  </a:lnTo>
                  <a:lnTo>
                    <a:pt x="146732" y="1467320"/>
                  </a:lnTo>
                  <a:lnTo>
                    <a:pt x="100351" y="1459840"/>
                  </a:lnTo>
                  <a:lnTo>
                    <a:pt x="60072" y="1439010"/>
                  </a:lnTo>
                  <a:lnTo>
                    <a:pt x="28309" y="1407248"/>
                  </a:lnTo>
                  <a:lnTo>
                    <a:pt x="7480" y="1366968"/>
                  </a:lnTo>
                  <a:lnTo>
                    <a:pt x="0" y="1320588"/>
                  </a:lnTo>
                  <a:lnTo>
                    <a:pt x="0" y="146732"/>
                  </a:lnTo>
                  <a:lnTo>
                    <a:pt x="7480" y="100353"/>
                  </a:lnTo>
                  <a:lnTo>
                    <a:pt x="28309" y="60074"/>
                  </a:lnTo>
                  <a:lnTo>
                    <a:pt x="60072" y="28310"/>
                  </a:lnTo>
                  <a:lnTo>
                    <a:pt x="100351" y="7480"/>
                  </a:lnTo>
                  <a:lnTo>
                    <a:pt x="146732" y="0"/>
                  </a:lnTo>
                  <a:lnTo>
                    <a:pt x="1870833" y="0"/>
                  </a:lnTo>
                  <a:lnTo>
                    <a:pt x="1917210" y="7480"/>
                  </a:lnTo>
                  <a:lnTo>
                    <a:pt x="1957489" y="28310"/>
                  </a:lnTo>
                  <a:lnTo>
                    <a:pt x="1989253" y="60074"/>
                  </a:lnTo>
                  <a:lnTo>
                    <a:pt x="2010084" y="100353"/>
                  </a:lnTo>
                  <a:lnTo>
                    <a:pt x="2017565" y="146732"/>
                  </a:lnTo>
                  <a:lnTo>
                    <a:pt x="2017565" y="1311371"/>
                  </a:lnTo>
                  <a:lnTo>
                    <a:pt x="2141370" y="1467320"/>
                  </a:lnTo>
                  <a:close/>
                </a:path>
              </a:pathLst>
            </a:custGeom>
            <a:solidFill>
              <a:srgbClr val="C6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53208" y="1452627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1870833" y="1467320"/>
                  </a:moveTo>
                  <a:lnTo>
                    <a:pt x="1877042" y="1467320"/>
                  </a:lnTo>
                  <a:lnTo>
                    <a:pt x="1883168" y="1466935"/>
                  </a:lnTo>
                  <a:lnTo>
                    <a:pt x="1889175" y="1466183"/>
                  </a:lnTo>
                  <a:lnTo>
                    <a:pt x="1889175" y="1467320"/>
                  </a:lnTo>
                  <a:lnTo>
                    <a:pt x="2141370" y="1467320"/>
                  </a:lnTo>
                  <a:lnTo>
                    <a:pt x="2017565" y="1311371"/>
                  </a:lnTo>
                  <a:lnTo>
                    <a:pt x="2017565" y="146732"/>
                  </a:lnTo>
                  <a:lnTo>
                    <a:pt x="2010084" y="100353"/>
                  </a:lnTo>
                  <a:lnTo>
                    <a:pt x="1989253" y="60074"/>
                  </a:lnTo>
                  <a:lnTo>
                    <a:pt x="1957489" y="28310"/>
                  </a:lnTo>
                  <a:lnTo>
                    <a:pt x="1917210" y="7480"/>
                  </a:lnTo>
                  <a:lnTo>
                    <a:pt x="1870833" y="0"/>
                  </a:lnTo>
                  <a:lnTo>
                    <a:pt x="146732" y="0"/>
                  </a:lnTo>
                  <a:lnTo>
                    <a:pt x="100351" y="7480"/>
                  </a:lnTo>
                  <a:lnTo>
                    <a:pt x="60072" y="28310"/>
                  </a:lnTo>
                  <a:lnTo>
                    <a:pt x="28309" y="60074"/>
                  </a:lnTo>
                  <a:lnTo>
                    <a:pt x="7480" y="100353"/>
                  </a:lnTo>
                  <a:lnTo>
                    <a:pt x="0" y="146732"/>
                  </a:lnTo>
                  <a:lnTo>
                    <a:pt x="0" y="1320588"/>
                  </a:lnTo>
                  <a:lnTo>
                    <a:pt x="7480" y="1366968"/>
                  </a:lnTo>
                  <a:lnTo>
                    <a:pt x="28309" y="1407248"/>
                  </a:lnTo>
                  <a:lnTo>
                    <a:pt x="60072" y="1439010"/>
                  </a:lnTo>
                  <a:lnTo>
                    <a:pt x="100351" y="1459840"/>
                  </a:lnTo>
                  <a:lnTo>
                    <a:pt x="146732" y="1467320"/>
                  </a:lnTo>
                  <a:lnTo>
                    <a:pt x="1870833" y="1467320"/>
                  </a:lnTo>
                </a:path>
              </a:pathLst>
            </a:custGeom>
            <a:ln w="11906">
              <a:solidFill>
                <a:srgbClr val="DE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616110" y="1733797"/>
            <a:ext cx="1654175" cy="7670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5"/>
              </a:spcBef>
            </a:pPr>
            <a:r>
              <a:rPr sz="1200" b="1" spc="-60" dirty="0">
                <a:solidFill>
                  <a:srgbClr val="FFFFFF"/>
                </a:solidFill>
                <a:latin typeface="Tahoma"/>
                <a:cs typeface="Tahoma"/>
              </a:rPr>
              <a:t>Convergencia</a:t>
            </a:r>
            <a:r>
              <a:rPr sz="12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</a:rPr>
              <a:t>táctica</a:t>
            </a:r>
            <a:endParaRPr sz="1200">
              <a:latin typeface="Tahoma"/>
              <a:cs typeface="Tahoma"/>
            </a:endParaRPr>
          </a:p>
          <a:p>
            <a:pPr marL="115570" marR="5080" indent="-103505">
              <a:lnSpc>
                <a:spcPct val="118800"/>
              </a:lnSpc>
              <a:spcBef>
                <a:spcPts val="655"/>
              </a:spcBef>
            </a:pPr>
            <a:r>
              <a:rPr sz="13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Percepción</a:t>
            </a:r>
            <a:r>
              <a:rPr sz="13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3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decisión </a:t>
            </a:r>
            <a:r>
              <a:rPr sz="13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generan</a:t>
            </a:r>
            <a:r>
              <a:rPr sz="13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respuesta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262288" y="1446674"/>
            <a:ext cx="2153285" cy="1479550"/>
            <a:chOff x="9262288" y="1446674"/>
            <a:chExt cx="2153285" cy="1479550"/>
          </a:xfrm>
        </p:grpSpPr>
        <p:sp>
          <p:nvSpPr>
            <p:cNvPr id="21" name="object 21"/>
            <p:cNvSpPr/>
            <p:nvPr/>
          </p:nvSpPr>
          <p:spPr>
            <a:xfrm>
              <a:off x="9268241" y="1452628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1994638" y="1467320"/>
                  </a:moveTo>
                  <a:lnTo>
                    <a:pt x="270537" y="1467320"/>
                  </a:lnTo>
                  <a:lnTo>
                    <a:pt x="264319" y="1467320"/>
                  </a:lnTo>
                  <a:lnTo>
                    <a:pt x="258202" y="1466935"/>
                  </a:lnTo>
                  <a:lnTo>
                    <a:pt x="252195" y="1466183"/>
                  </a:lnTo>
                  <a:lnTo>
                    <a:pt x="252195" y="1467320"/>
                  </a:lnTo>
                  <a:lnTo>
                    <a:pt x="0" y="1467320"/>
                  </a:lnTo>
                  <a:lnTo>
                    <a:pt x="123805" y="1311371"/>
                  </a:lnTo>
                  <a:lnTo>
                    <a:pt x="123805" y="146732"/>
                  </a:lnTo>
                  <a:lnTo>
                    <a:pt x="131285" y="100353"/>
                  </a:lnTo>
                  <a:lnTo>
                    <a:pt x="152114" y="60074"/>
                  </a:lnTo>
                  <a:lnTo>
                    <a:pt x="183877" y="28310"/>
                  </a:lnTo>
                  <a:lnTo>
                    <a:pt x="224157" y="7480"/>
                  </a:lnTo>
                  <a:lnTo>
                    <a:pt x="270537" y="0"/>
                  </a:lnTo>
                  <a:lnTo>
                    <a:pt x="1994638" y="0"/>
                  </a:lnTo>
                  <a:lnTo>
                    <a:pt x="2041015" y="7480"/>
                  </a:lnTo>
                  <a:lnTo>
                    <a:pt x="2081294" y="28310"/>
                  </a:lnTo>
                  <a:lnTo>
                    <a:pt x="2113058" y="60074"/>
                  </a:lnTo>
                  <a:lnTo>
                    <a:pt x="2133889" y="100353"/>
                  </a:lnTo>
                  <a:lnTo>
                    <a:pt x="2141370" y="146732"/>
                  </a:lnTo>
                  <a:lnTo>
                    <a:pt x="2141370" y="1320588"/>
                  </a:lnTo>
                  <a:lnTo>
                    <a:pt x="2133889" y="1366968"/>
                  </a:lnTo>
                  <a:lnTo>
                    <a:pt x="2113058" y="1407248"/>
                  </a:lnTo>
                  <a:lnTo>
                    <a:pt x="2081294" y="1439010"/>
                  </a:lnTo>
                  <a:lnTo>
                    <a:pt x="2041015" y="1459840"/>
                  </a:lnTo>
                  <a:lnTo>
                    <a:pt x="1994638" y="1467320"/>
                  </a:lnTo>
                  <a:close/>
                </a:path>
              </a:pathLst>
            </a:custGeom>
            <a:solidFill>
              <a:srgbClr val="126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68241" y="1452627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270536" y="1467320"/>
                  </a:moveTo>
                  <a:lnTo>
                    <a:pt x="264319" y="1467320"/>
                  </a:lnTo>
                  <a:lnTo>
                    <a:pt x="258202" y="1466935"/>
                  </a:lnTo>
                  <a:lnTo>
                    <a:pt x="252195" y="1466183"/>
                  </a:lnTo>
                  <a:lnTo>
                    <a:pt x="252195" y="1467320"/>
                  </a:lnTo>
                  <a:lnTo>
                    <a:pt x="0" y="1467320"/>
                  </a:lnTo>
                  <a:lnTo>
                    <a:pt x="123805" y="1311371"/>
                  </a:lnTo>
                  <a:lnTo>
                    <a:pt x="123805" y="146732"/>
                  </a:lnTo>
                  <a:lnTo>
                    <a:pt x="131285" y="100353"/>
                  </a:lnTo>
                  <a:lnTo>
                    <a:pt x="152114" y="60074"/>
                  </a:lnTo>
                  <a:lnTo>
                    <a:pt x="183877" y="28310"/>
                  </a:lnTo>
                  <a:lnTo>
                    <a:pt x="224156" y="7480"/>
                  </a:lnTo>
                  <a:lnTo>
                    <a:pt x="270536" y="0"/>
                  </a:lnTo>
                  <a:lnTo>
                    <a:pt x="1994638" y="0"/>
                  </a:lnTo>
                  <a:lnTo>
                    <a:pt x="2041015" y="7480"/>
                  </a:lnTo>
                  <a:lnTo>
                    <a:pt x="2081294" y="28310"/>
                  </a:lnTo>
                  <a:lnTo>
                    <a:pt x="2113058" y="60074"/>
                  </a:lnTo>
                  <a:lnTo>
                    <a:pt x="2133889" y="100353"/>
                  </a:lnTo>
                  <a:lnTo>
                    <a:pt x="2141370" y="146732"/>
                  </a:lnTo>
                  <a:lnTo>
                    <a:pt x="2141370" y="1320588"/>
                  </a:lnTo>
                  <a:lnTo>
                    <a:pt x="2133889" y="1366968"/>
                  </a:lnTo>
                  <a:lnTo>
                    <a:pt x="2113058" y="1407248"/>
                  </a:lnTo>
                  <a:lnTo>
                    <a:pt x="2081294" y="1439010"/>
                  </a:lnTo>
                  <a:lnTo>
                    <a:pt x="2041015" y="1459840"/>
                  </a:lnTo>
                  <a:lnTo>
                    <a:pt x="1994638" y="1467320"/>
                  </a:lnTo>
                  <a:lnTo>
                    <a:pt x="270536" y="1467320"/>
                  </a:lnTo>
                </a:path>
              </a:pathLst>
            </a:custGeom>
            <a:ln w="11906">
              <a:solidFill>
                <a:srgbClr val="2B7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67916" y="1606163"/>
            <a:ext cx="1642110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2905" marR="31115" indent="-343535">
              <a:lnSpc>
                <a:spcPct val="115199"/>
              </a:lnSpc>
              <a:spcBef>
                <a:spcPts val="90"/>
              </a:spcBef>
            </a:pPr>
            <a:r>
              <a:rPr sz="1200" b="1" spc="-65" dirty="0">
                <a:solidFill>
                  <a:srgbClr val="D5D5D5"/>
                </a:solidFill>
                <a:latin typeface="Tahoma"/>
                <a:cs typeface="Tahoma"/>
              </a:rPr>
              <a:t>Percepción:</a:t>
            </a:r>
            <a:r>
              <a:rPr sz="1200" b="1" spc="-15" dirty="0">
                <a:solidFill>
                  <a:srgbClr val="D5D5D5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D5D5D5"/>
                </a:solidFill>
                <a:latin typeface="Tahoma"/>
                <a:cs typeface="Tahoma"/>
              </a:rPr>
              <a:t>visión</a:t>
            </a:r>
            <a:r>
              <a:rPr sz="1200" b="1" spc="-10" dirty="0">
                <a:solidFill>
                  <a:srgbClr val="D5D5D5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D5D5D5"/>
                </a:solidFill>
                <a:latin typeface="Tahoma"/>
                <a:cs typeface="Tahoma"/>
              </a:rPr>
              <a:t>por </a:t>
            </a:r>
            <a:r>
              <a:rPr sz="1200" b="1" spc="-10" dirty="0">
                <a:solidFill>
                  <a:srgbClr val="D5D5D5"/>
                </a:solidFill>
                <a:latin typeface="Tahoma"/>
                <a:cs typeface="Tahoma"/>
              </a:rPr>
              <a:t>computador</a:t>
            </a:r>
            <a:endParaRPr sz="1200">
              <a:latin typeface="Tahoma"/>
              <a:cs typeface="Tahoma"/>
            </a:endParaRPr>
          </a:p>
          <a:p>
            <a:pPr marL="382905" marR="5080" indent="-370840">
              <a:lnSpc>
                <a:spcPct val="118800"/>
              </a:lnSpc>
              <a:spcBef>
                <a:spcPts val="655"/>
              </a:spcBef>
            </a:pPr>
            <a:r>
              <a:rPr sz="13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Analiza</a:t>
            </a:r>
            <a:r>
              <a:rPr sz="13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D5D5D5"/>
                </a:solidFill>
                <a:latin typeface="Lucida Sans Unicode"/>
                <a:cs typeface="Lucida Sans Unicode"/>
              </a:rPr>
              <a:t>el</a:t>
            </a:r>
            <a:r>
              <a:rPr sz="13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entorno</a:t>
            </a:r>
            <a:r>
              <a:rPr sz="13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D5D5D5"/>
                </a:solidFill>
                <a:latin typeface="Lucida Sans Unicode"/>
                <a:cs typeface="Lucida Sans Unicode"/>
              </a:rPr>
              <a:t>en </a:t>
            </a:r>
            <a:r>
              <a:rPr sz="13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tiempo</a:t>
            </a:r>
            <a:r>
              <a:rPr sz="1300" spc="-1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D5D5D5"/>
                </a:solidFill>
                <a:latin typeface="Lucida Sans Unicode"/>
                <a:cs typeface="Lucida Sans Unicode"/>
              </a:rPr>
              <a:t>real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57333" y="2602189"/>
            <a:ext cx="1534795" cy="1534795"/>
            <a:chOff x="7657333" y="2602189"/>
            <a:chExt cx="1534795" cy="1534795"/>
          </a:xfrm>
        </p:grpSpPr>
        <p:sp>
          <p:nvSpPr>
            <p:cNvPr id="9" name="object 9"/>
            <p:cNvSpPr/>
            <p:nvPr/>
          </p:nvSpPr>
          <p:spPr>
            <a:xfrm>
              <a:off x="7663286" y="2608142"/>
              <a:ext cx="1522730" cy="1522730"/>
            </a:xfrm>
            <a:custGeom>
              <a:avLst/>
              <a:gdLst/>
              <a:ahLst/>
              <a:cxnLst/>
              <a:rect l="l" t="t" r="r" b="b"/>
              <a:pathLst>
                <a:path w="1522729" h="1522729">
                  <a:moveTo>
                    <a:pt x="761172" y="1522344"/>
                  </a:moveTo>
                  <a:lnTo>
                    <a:pt x="705183" y="1520283"/>
                  </a:lnTo>
                  <a:lnTo>
                    <a:pt x="649485" y="1514106"/>
                  </a:lnTo>
                  <a:lnTo>
                    <a:pt x="594392" y="1503848"/>
                  </a:lnTo>
                  <a:lnTo>
                    <a:pt x="540215" y="1489568"/>
                  </a:lnTo>
                  <a:lnTo>
                    <a:pt x="487234" y="1471342"/>
                  </a:lnTo>
                  <a:lnTo>
                    <a:pt x="435728" y="1449264"/>
                  </a:lnTo>
                  <a:lnTo>
                    <a:pt x="385986" y="1423455"/>
                  </a:lnTo>
                  <a:lnTo>
                    <a:pt x="338287" y="1394063"/>
                  </a:lnTo>
                  <a:lnTo>
                    <a:pt x="292878" y="1361243"/>
                  </a:lnTo>
                  <a:lnTo>
                    <a:pt x="249999" y="1325164"/>
                  </a:lnTo>
                  <a:lnTo>
                    <a:pt x="209891" y="1286027"/>
                  </a:lnTo>
                  <a:lnTo>
                    <a:pt x="172778" y="1244055"/>
                  </a:lnTo>
                  <a:lnTo>
                    <a:pt x="138852" y="1199466"/>
                  </a:lnTo>
                  <a:lnTo>
                    <a:pt x="108292" y="1152493"/>
                  </a:lnTo>
                  <a:lnTo>
                    <a:pt x="81271" y="1103399"/>
                  </a:lnTo>
                  <a:lnTo>
                    <a:pt x="57940" y="1052460"/>
                  </a:lnTo>
                  <a:lnTo>
                    <a:pt x="38418" y="999944"/>
                  </a:lnTo>
                  <a:lnTo>
                    <a:pt x="22810" y="946122"/>
                  </a:lnTo>
                  <a:lnTo>
                    <a:pt x="11204" y="891298"/>
                  </a:lnTo>
                  <a:lnTo>
                    <a:pt x="3665" y="835780"/>
                  </a:lnTo>
                  <a:lnTo>
                    <a:pt x="229" y="779858"/>
                  </a:lnTo>
                  <a:lnTo>
                    <a:pt x="0" y="761172"/>
                  </a:lnTo>
                  <a:lnTo>
                    <a:pt x="229" y="742486"/>
                  </a:lnTo>
                  <a:lnTo>
                    <a:pt x="3665" y="686564"/>
                  </a:lnTo>
                  <a:lnTo>
                    <a:pt x="11204" y="631046"/>
                  </a:lnTo>
                  <a:lnTo>
                    <a:pt x="22810" y="576222"/>
                  </a:lnTo>
                  <a:lnTo>
                    <a:pt x="38418" y="522400"/>
                  </a:lnTo>
                  <a:lnTo>
                    <a:pt x="57940" y="469884"/>
                  </a:lnTo>
                  <a:lnTo>
                    <a:pt x="81271" y="418945"/>
                  </a:lnTo>
                  <a:lnTo>
                    <a:pt x="108292" y="369851"/>
                  </a:lnTo>
                  <a:lnTo>
                    <a:pt x="138852" y="322878"/>
                  </a:lnTo>
                  <a:lnTo>
                    <a:pt x="172778" y="278289"/>
                  </a:lnTo>
                  <a:lnTo>
                    <a:pt x="209891" y="236316"/>
                  </a:lnTo>
                  <a:lnTo>
                    <a:pt x="249999" y="197180"/>
                  </a:lnTo>
                  <a:lnTo>
                    <a:pt x="292878" y="161101"/>
                  </a:lnTo>
                  <a:lnTo>
                    <a:pt x="338287" y="128280"/>
                  </a:lnTo>
                  <a:lnTo>
                    <a:pt x="385986" y="98888"/>
                  </a:lnTo>
                  <a:lnTo>
                    <a:pt x="435728" y="73080"/>
                  </a:lnTo>
                  <a:lnTo>
                    <a:pt x="487234" y="51001"/>
                  </a:lnTo>
                  <a:lnTo>
                    <a:pt x="540215" y="32775"/>
                  </a:lnTo>
                  <a:lnTo>
                    <a:pt x="594392" y="18495"/>
                  </a:lnTo>
                  <a:lnTo>
                    <a:pt x="649485" y="8237"/>
                  </a:lnTo>
                  <a:lnTo>
                    <a:pt x="705183" y="2061"/>
                  </a:lnTo>
                  <a:lnTo>
                    <a:pt x="761172" y="0"/>
                  </a:lnTo>
                  <a:lnTo>
                    <a:pt x="779858" y="229"/>
                  </a:lnTo>
                  <a:lnTo>
                    <a:pt x="835780" y="3665"/>
                  </a:lnTo>
                  <a:lnTo>
                    <a:pt x="891298" y="11204"/>
                  </a:lnTo>
                  <a:lnTo>
                    <a:pt x="946122" y="22810"/>
                  </a:lnTo>
                  <a:lnTo>
                    <a:pt x="999943" y="38419"/>
                  </a:lnTo>
                  <a:lnTo>
                    <a:pt x="1052459" y="57940"/>
                  </a:lnTo>
                  <a:lnTo>
                    <a:pt x="1103399" y="81271"/>
                  </a:lnTo>
                  <a:lnTo>
                    <a:pt x="1152493" y="108292"/>
                  </a:lnTo>
                  <a:lnTo>
                    <a:pt x="1199465" y="138852"/>
                  </a:lnTo>
                  <a:lnTo>
                    <a:pt x="1244054" y="172778"/>
                  </a:lnTo>
                  <a:lnTo>
                    <a:pt x="1286027" y="209891"/>
                  </a:lnTo>
                  <a:lnTo>
                    <a:pt x="1325164" y="249999"/>
                  </a:lnTo>
                  <a:lnTo>
                    <a:pt x="1361243" y="292879"/>
                  </a:lnTo>
                  <a:lnTo>
                    <a:pt x="1394063" y="338287"/>
                  </a:lnTo>
                  <a:lnTo>
                    <a:pt x="1423455" y="385986"/>
                  </a:lnTo>
                  <a:lnTo>
                    <a:pt x="1449264" y="435728"/>
                  </a:lnTo>
                  <a:lnTo>
                    <a:pt x="1471342" y="487235"/>
                  </a:lnTo>
                  <a:lnTo>
                    <a:pt x="1489568" y="540215"/>
                  </a:lnTo>
                  <a:lnTo>
                    <a:pt x="1503848" y="594393"/>
                  </a:lnTo>
                  <a:lnTo>
                    <a:pt x="1514106" y="649485"/>
                  </a:lnTo>
                  <a:lnTo>
                    <a:pt x="1520283" y="705182"/>
                  </a:lnTo>
                  <a:lnTo>
                    <a:pt x="1522344" y="761172"/>
                  </a:lnTo>
                  <a:lnTo>
                    <a:pt x="1522115" y="779858"/>
                  </a:lnTo>
                  <a:lnTo>
                    <a:pt x="1518679" y="835780"/>
                  </a:lnTo>
                  <a:lnTo>
                    <a:pt x="1511139" y="891298"/>
                  </a:lnTo>
                  <a:lnTo>
                    <a:pt x="1499533" y="946122"/>
                  </a:lnTo>
                  <a:lnTo>
                    <a:pt x="1483925" y="999944"/>
                  </a:lnTo>
                  <a:lnTo>
                    <a:pt x="1464403" y="1052460"/>
                  </a:lnTo>
                  <a:lnTo>
                    <a:pt x="1441072" y="1103399"/>
                  </a:lnTo>
                  <a:lnTo>
                    <a:pt x="1414051" y="1152493"/>
                  </a:lnTo>
                  <a:lnTo>
                    <a:pt x="1383492" y="1199466"/>
                  </a:lnTo>
                  <a:lnTo>
                    <a:pt x="1349566" y="1244055"/>
                  </a:lnTo>
                  <a:lnTo>
                    <a:pt x="1312453" y="1286027"/>
                  </a:lnTo>
                  <a:lnTo>
                    <a:pt x="1272344" y="1325164"/>
                  </a:lnTo>
                  <a:lnTo>
                    <a:pt x="1229465" y="1361243"/>
                  </a:lnTo>
                  <a:lnTo>
                    <a:pt x="1184056" y="1394063"/>
                  </a:lnTo>
                  <a:lnTo>
                    <a:pt x="1136358" y="1423455"/>
                  </a:lnTo>
                  <a:lnTo>
                    <a:pt x="1086615" y="1449264"/>
                  </a:lnTo>
                  <a:lnTo>
                    <a:pt x="1035108" y="1471342"/>
                  </a:lnTo>
                  <a:lnTo>
                    <a:pt x="982128" y="1489568"/>
                  </a:lnTo>
                  <a:lnTo>
                    <a:pt x="927951" y="1503848"/>
                  </a:lnTo>
                  <a:lnTo>
                    <a:pt x="872859" y="1514106"/>
                  </a:lnTo>
                  <a:lnTo>
                    <a:pt x="817162" y="1520283"/>
                  </a:lnTo>
                  <a:lnTo>
                    <a:pt x="761172" y="1522344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63286" y="2608142"/>
              <a:ext cx="1522730" cy="1522730"/>
            </a:xfrm>
            <a:custGeom>
              <a:avLst/>
              <a:gdLst/>
              <a:ahLst/>
              <a:cxnLst/>
              <a:rect l="l" t="t" r="r" b="b"/>
              <a:pathLst>
                <a:path w="1522729" h="1522729">
                  <a:moveTo>
                    <a:pt x="1522344" y="761172"/>
                  </a:moveTo>
                  <a:lnTo>
                    <a:pt x="1520284" y="817162"/>
                  </a:lnTo>
                  <a:lnTo>
                    <a:pt x="1514107" y="872859"/>
                  </a:lnTo>
                  <a:lnTo>
                    <a:pt x="1503848" y="927951"/>
                  </a:lnTo>
                  <a:lnTo>
                    <a:pt x="1489568" y="982129"/>
                  </a:lnTo>
                  <a:lnTo>
                    <a:pt x="1471342" y="1035109"/>
                  </a:lnTo>
                  <a:lnTo>
                    <a:pt x="1449264" y="1086615"/>
                  </a:lnTo>
                  <a:lnTo>
                    <a:pt x="1423455" y="1136357"/>
                  </a:lnTo>
                  <a:lnTo>
                    <a:pt x="1394063" y="1184056"/>
                  </a:lnTo>
                  <a:lnTo>
                    <a:pt x="1361243" y="1229465"/>
                  </a:lnTo>
                  <a:lnTo>
                    <a:pt x="1325164" y="1272344"/>
                  </a:lnTo>
                  <a:lnTo>
                    <a:pt x="1286027" y="1312453"/>
                  </a:lnTo>
                  <a:lnTo>
                    <a:pt x="1244054" y="1349566"/>
                  </a:lnTo>
                  <a:lnTo>
                    <a:pt x="1199465" y="1383491"/>
                  </a:lnTo>
                  <a:lnTo>
                    <a:pt x="1152493" y="1414052"/>
                  </a:lnTo>
                  <a:lnTo>
                    <a:pt x="1103398" y="1441072"/>
                  </a:lnTo>
                  <a:lnTo>
                    <a:pt x="1052459" y="1464403"/>
                  </a:lnTo>
                  <a:lnTo>
                    <a:pt x="999943" y="1483925"/>
                  </a:lnTo>
                  <a:lnTo>
                    <a:pt x="946122" y="1499533"/>
                  </a:lnTo>
                  <a:lnTo>
                    <a:pt x="891298" y="1511139"/>
                  </a:lnTo>
                  <a:lnTo>
                    <a:pt x="835780" y="1518679"/>
                  </a:lnTo>
                  <a:lnTo>
                    <a:pt x="779858" y="1522115"/>
                  </a:lnTo>
                  <a:lnTo>
                    <a:pt x="761172" y="1522344"/>
                  </a:lnTo>
                  <a:lnTo>
                    <a:pt x="742486" y="1522115"/>
                  </a:lnTo>
                  <a:lnTo>
                    <a:pt x="686564" y="1518679"/>
                  </a:lnTo>
                  <a:lnTo>
                    <a:pt x="631046" y="1511139"/>
                  </a:lnTo>
                  <a:lnTo>
                    <a:pt x="576222" y="1499533"/>
                  </a:lnTo>
                  <a:lnTo>
                    <a:pt x="522400" y="1483925"/>
                  </a:lnTo>
                  <a:lnTo>
                    <a:pt x="469884" y="1464403"/>
                  </a:lnTo>
                  <a:lnTo>
                    <a:pt x="418945" y="1441072"/>
                  </a:lnTo>
                  <a:lnTo>
                    <a:pt x="369850" y="1414052"/>
                  </a:lnTo>
                  <a:lnTo>
                    <a:pt x="322878" y="1383491"/>
                  </a:lnTo>
                  <a:lnTo>
                    <a:pt x="278289" y="1349566"/>
                  </a:lnTo>
                  <a:lnTo>
                    <a:pt x="236316" y="1312453"/>
                  </a:lnTo>
                  <a:lnTo>
                    <a:pt x="197180" y="1272344"/>
                  </a:lnTo>
                  <a:lnTo>
                    <a:pt x="161101" y="1229465"/>
                  </a:lnTo>
                  <a:lnTo>
                    <a:pt x="128280" y="1184056"/>
                  </a:lnTo>
                  <a:lnTo>
                    <a:pt x="98888" y="1136357"/>
                  </a:lnTo>
                  <a:lnTo>
                    <a:pt x="73080" y="1086615"/>
                  </a:lnTo>
                  <a:lnTo>
                    <a:pt x="51001" y="1035109"/>
                  </a:lnTo>
                  <a:lnTo>
                    <a:pt x="32775" y="982128"/>
                  </a:lnTo>
                  <a:lnTo>
                    <a:pt x="18495" y="927951"/>
                  </a:lnTo>
                  <a:lnTo>
                    <a:pt x="8238" y="872859"/>
                  </a:lnTo>
                  <a:lnTo>
                    <a:pt x="2061" y="817162"/>
                  </a:lnTo>
                  <a:lnTo>
                    <a:pt x="0" y="761172"/>
                  </a:lnTo>
                  <a:lnTo>
                    <a:pt x="229" y="742486"/>
                  </a:lnTo>
                  <a:lnTo>
                    <a:pt x="3665" y="686564"/>
                  </a:lnTo>
                  <a:lnTo>
                    <a:pt x="11205" y="631046"/>
                  </a:lnTo>
                  <a:lnTo>
                    <a:pt x="22810" y="576222"/>
                  </a:lnTo>
                  <a:lnTo>
                    <a:pt x="38419" y="522400"/>
                  </a:lnTo>
                  <a:lnTo>
                    <a:pt x="57940" y="469884"/>
                  </a:lnTo>
                  <a:lnTo>
                    <a:pt x="81272" y="418945"/>
                  </a:lnTo>
                  <a:lnTo>
                    <a:pt x="108292" y="369851"/>
                  </a:lnTo>
                  <a:lnTo>
                    <a:pt x="138852" y="322878"/>
                  </a:lnTo>
                  <a:lnTo>
                    <a:pt x="172778" y="278289"/>
                  </a:lnTo>
                  <a:lnTo>
                    <a:pt x="209891" y="236316"/>
                  </a:lnTo>
                  <a:lnTo>
                    <a:pt x="249999" y="197180"/>
                  </a:lnTo>
                  <a:lnTo>
                    <a:pt x="292879" y="161101"/>
                  </a:lnTo>
                  <a:lnTo>
                    <a:pt x="338287" y="128280"/>
                  </a:lnTo>
                  <a:lnTo>
                    <a:pt x="385986" y="98888"/>
                  </a:lnTo>
                  <a:lnTo>
                    <a:pt x="435728" y="73080"/>
                  </a:lnTo>
                  <a:lnTo>
                    <a:pt x="487235" y="51001"/>
                  </a:lnTo>
                  <a:lnTo>
                    <a:pt x="540215" y="32775"/>
                  </a:lnTo>
                  <a:lnTo>
                    <a:pt x="594392" y="18495"/>
                  </a:lnTo>
                  <a:lnTo>
                    <a:pt x="649485" y="8237"/>
                  </a:lnTo>
                  <a:lnTo>
                    <a:pt x="705182" y="2061"/>
                  </a:lnTo>
                  <a:lnTo>
                    <a:pt x="761172" y="0"/>
                  </a:lnTo>
                  <a:lnTo>
                    <a:pt x="779858" y="229"/>
                  </a:lnTo>
                  <a:lnTo>
                    <a:pt x="835780" y="3665"/>
                  </a:lnTo>
                  <a:lnTo>
                    <a:pt x="891297" y="11204"/>
                  </a:lnTo>
                  <a:lnTo>
                    <a:pt x="946121" y="22810"/>
                  </a:lnTo>
                  <a:lnTo>
                    <a:pt x="999943" y="38419"/>
                  </a:lnTo>
                  <a:lnTo>
                    <a:pt x="1052459" y="57940"/>
                  </a:lnTo>
                  <a:lnTo>
                    <a:pt x="1103398" y="81271"/>
                  </a:lnTo>
                  <a:lnTo>
                    <a:pt x="1152493" y="108292"/>
                  </a:lnTo>
                  <a:lnTo>
                    <a:pt x="1199465" y="138852"/>
                  </a:lnTo>
                  <a:lnTo>
                    <a:pt x="1244054" y="172778"/>
                  </a:lnTo>
                  <a:lnTo>
                    <a:pt x="1286027" y="209891"/>
                  </a:lnTo>
                  <a:lnTo>
                    <a:pt x="1325164" y="249999"/>
                  </a:lnTo>
                  <a:lnTo>
                    <a:pt x="1361243" y="292879"/>
                  </a:lnTo>
                  <a:lnTo>
                    <a:pt x="1394063" y="338287"/>
                  </a:lnTo>
                  <a:lnTo>
                    <a:pt x="1423455" y="385986"/>
                  </a:lnTo>
                  <a:lnTo>
                    <a:pt x="1449264" y="435728"/>
                  </a:lnTo>
                  <a:lnTo>
                    <a:pt x="1471342" y="487235"/>
                  </a:lnTo>
                  <a:lnTo>
                    <a:pt x="1489567" y="540215"/>
                  </a:lnTo>
                  <a:lnTo>
                    <a:pt x="1503848" y="594392"/>
                  </a:lnTo>
                  <a:lnTo>
                    <a:pt x="1514107" y="649484"/>
                  </a:lnTo>
                  <a:lnTo>
                    <a:pt x="1520283" y="705182"/>
                  </a:lnTo>
                  <a:lnTo>
                    <a:pt x="1522344" y="761172"/>
                  </a:lnTo>
                </a:path>
              </a:pathLst>
            </a:custGeom>
            <a:ln w="11906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033480" y="3012351"/>
            <a:ext cx="767080" cy="6515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735" marR="5080" indent="-26670" algn="just">
              <a:lnSpc>
                <a:spcPct val="113500"/>
              </a:lnSpc>
              <a:spcBef>
                <a:spcPts val="114"/>
              </a:spcBef>
            </a:pPr>
            <a:r>
              <a:rPr sz="1200" b="1" spc="-55" dirty="0">
                <a:latin typeface="Tahoma"/>
                <a:cs typeface="Tahoma"/>
              </a:rPr>
              <a:t>Respuesta </a:t>
            </a:r>
            <a:r>
              <a:rPr sz="1200" b="1" spc="-50" dirty="0">
                <a:latin typeface="Tahoma"/>
                <a:cs typeface="Tahoma"/>
              </a:rPr>
              <a:t>táctica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ahoma"/>
                <a:cs typeface="Tahoma"/>
              </a:rPr>
              <a:t>de </a:t>
            </a:r>
            <a:r>
              <a:rPr sz="1200" b="1" spc="-10" dirty="0">
                <a:latin typeface="Tahoma"/>
                <a:cs typeface="Tahoma"/>
              </a:rPr>
              <a:t>BioScout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7255" y="3931948"/>
            <a:ext cx="2153285" cy="1479550"/>
            <a:chOff x="5447255" y="3931948"/>
            <a:chExt cx="2153285" cy="1479550"/>
          </a:xfrm>
        </p:grpSpPr>
        <p:sp>
          <p:nvSpPr>
            <p:cNvPr id="15" name="object 15"/>
            <p:cNvSpPr/>
            <p:nvPr/>
          </p:nvSpPr>
          <p:spPr>
            <a:xfrm>
              <a:off x="5453208" y="3937902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1870833" y="1467320"/>
                  </a:moveTo>
                  <a:lnTo>
                    <a:pt x="146732" y="1467320"/>
                  </a:lnTo>
                  <a:lnTo>
                    <a:pt x="100351" y="1459840"/>
                  </a:lnTo>
                  <a:lnTo>
                    <a:pt x="60072" y="1439010"/>
                  </a:lnTo>
                  <a:lnTo>
                    <a:pt x="28309" y="1407248"/>
                  </a:lnTo>
                  <a:lnTo>
                    <a:pt x="7480" y="1366968"/>
                  </a:lnTo>
                  <a:lnTo>
                    <a:pt x="0" y="1320588"/>
                  </a:lnTo>
                  <a:lnTo>
                    <a:pt x="0" y="146732"/>
                  </a:lnTo>
                  <a:lnTo>
                    <a:pt x="7480" y="100351"/>
                  </a:lnTo>
                  <a:lnTo>
                    <a:pt x="28309" y="60072"/>
                  </a:lnTo>
                  <a:lnTo>
                    <a:pt x="60072" y="28309"/>
                  </a:lnTo>
                  <a:lnTo>
                    <a:pt x="100351" y="7480"/>
                  </a:lnTo>
                  <a:lnTo>
                    <a:pt x="146732" y="0"/>
                  </a:lnTo>
                  <a:lnTo>
                    <a:pt x="1870833" y="0"/>
                  </a:lnTo>
                  <a:lnTo>
                    <a:pt x="1877042" y="0"/>
                  </a:lnTo>
                  <a:lnTo>
                    <a:pt x="1883168" y="385"/>
                  </a:lnTo>
                  <a:lnTo>
                    <a:pt x="1889175" y="1137"/>
                  </a:lnTo>
                  <a:lnTo>
                    <a:pt x="1889175" y="0"/>
                  </a:lnTo>
                  <a:lnTo>
                    <a:pt x="2141370" y="0"/>
                  </a:lnTo>
                  <a:lnTo>
                    <a:pt x="2017565" y="155948"/>
                  </a:lnTo>
                  <a:lnTo>
                    <a:pt x="2017565" y="1320588"/>
                  </a:lnTo>
                  <a:lnTo>
                    <a:pt x="2010084" y="1366968"/>
                  </a:lnTo>
                  <a:lnTo>
                    <a:pt x="1989253" y="1407248"/>
                  </a:lnTo>
                  <a:lnTo>
                    <a:pt x="1957489" y="1439010"/>
                  </a:lnTo>
                  <a:lnTo>
                    <a:pt x="1917210" y="1459840"/>
                  </a:lnTo>
                  <a:lnTo>
                    <a:pt x="1870833" y="146732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53208" y="3937901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1870833" y="0"/>
                  </a:moveTo>
                  <a:lnTo>
                    <a:pt x="1877042" y="0"/>
                  </a:lnTo>
                  <a:lnTo>
                    <a:pt x="1883168" y="385"/>
                  </a:lnTo>
                  <a:lnTo>
                    <a:pt x="1889175" y="1137"/>
                  </a:lnTo>
                  <a:lnTo>
                    <a:pt x="1889175" y="0"/>
                  </a:lnTo>
                  <a:lnTo>
                    <a:pt x="2141370" y="0"/>
                  </a:lnTo>
                  <a:lnTo>
                    <a:pt x="2017565" y="155948"/>
                  </a:lnTo>
                  <a:lnTo>
                    <a:pt x="2017565" y="1320588"/>
                  </a:lnTo>
                  <a:lnTo>
                    <a:pt x="2010084" y="1366968"/>
                  </a:lnTo>
                  <a:lnTo>
                    <a:pt x="1989253" y="1407248"/>
                  </a:lnTo>
                  <a:lnTo>
                    <a:pt x="1957489" y="1439010"/>
                  </a:lnTo>
                  <a:lnTo>
                    <a:pt x="1917210" y="1459840"/>
                  </a:lnTo>
                  <a:lnTo>
                    <a:pt x="1870833" y="1467320"/>
                  </a:lnTo>
                  <a:lnTo>
                    <a:pt x="146732" y="1467320"/>
                  </a:lnTo>
                  <a:lnTo>
                    <a:pt x="100351" y="1459840"/>
                  </a:lnTo>
                  <a:lnTo>
                    <a:pt x="60072" y="1439010"/>
                  </a:lnTo>
                  <a:lnTo>
                    <a:pt x="28309" y="1407248"/>
                  </a:lnTo>
                  <a:lnTo>
                    <a:pt x="7480" y="1366968"/>
                  </a:lnTo>
                  <a:lnTo>
                    <a:pt x="0" y="1320588"/>
                  </a:lnTo>
                  <a:lnTo>
                    <a:pt x="0" y="146732"/>
                  </a:lnTo>
                  <a:lnTo>
                    <a:pt x="7480" y="100351"/>
                  </a:lnTo>
                  <a:lnTo>
                    <a:pt x="28309" y="60072"/>
                  </a:lnTo>
                  <a:lnTo>
                    <a:pt x="60072" y="28309"/>
                  </a:lnTo>
                  <a:lnTo>
                    <a:pt x="100351" y="7480"/>
                  </a:lnTo>
                  <a:lnTo>
                    <a:pt x="146732" y="0"/>
                  </a:lnTo>
                  <a:lnTo>
                    <a:pt x="1870833" y="0"/>
                  </a:lnTo>
                </a:path>
              </a:pathLst>
            </a:custGeom>
            <a:ln w="11906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30822" y="4090222"/>
            <a:ext cx="1624330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090" marR="75565" algn="ctr">
              <a:lnSpc>
                <a:spcPct val="115199"/>
              </a:lnSpc>
              <a:spcBef>
                <a:spcPts val="90"/>
              </a:spcBef>
            </a:pPr>
            <a:r>
              <a:rPr sz="1200" b="1" spc="-45" dirty="0">
                <a:latin typeface="Tahoma"/>
                <a:cs typeface="Tahoma"/>
              </a:rPr>
              <a:t>Procesamiento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b="1" spc="-55" dirty="0">
                <a:latin typeface="Tahoma"/>
                <a:cs typeface="Tahoma"/>
              </a:rPr>
              <a:t>en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ahoma"/>
                <a:cs typeface="Tahoma"/>
              </a:rPr>
              <a:t>el </a:t>
            </a:r>
            <a:r>
              <a:rPr sz="1200" b="1" spc="-10" dirty="0">
                <a:latin typeface="Tahoma"/>
                <a:cs typeface="Tahoma"/>
              </a:rPr>
              <a:t>borde</a:t>
            </a:r>
            <a:endParaRPr sz="1200">
              <a:latin typeface="Tahoma"/>
              <a:cs typeface="Tahoma"/>
            </a:endParaRPr>
          </a:p>
          <a:p>
            <a:pPr marL="12700" marR="5080" indent="-635" algn="ctr">
              <a:lnSpc>
                <a:spcPct val="118800"/>
              </a:lnSpc>
              <a:spcBef>
                <a:spcPts val="655"/>
              </a:spcBef>
            </a:pPr>
            <a:r>
              <a:rPr sz="1300" spc="-45" dirty="0">
                <a:latin typeface="Lucida Sans Unicode"/>
                <a:cs typeface="Lucida Sans Unicode"/>
              </a:rPr>
              <a:t>Reduce</a:t>
            </a:r>
            <a:r>
              <a:rPr sz="1300" spc="-55" dirty="0">
                <a:latin typeface="Lucida Sans Unicode"/>
                <a:cs typeface="Lucida Sans Unicode"/>
              </a:rPr>
              <a:t> </a:t>
            </a:r>
            <a:r>
              <a:rPr sz="1300" spc="-10" dirty="0">
                <a:latin typeface="Lucida Sans Unicode"/>
                <a:cs typeface="Lucida Sans Unicode"/>
              </a:rPr>
              <a:t>dependencia </a:t>
            </a:r>
            <a:r>
              <a:rPr sz="1300" spc="-55" dirty="0">
                <a:latin typeface="Lucida Sans Unicode"/>
                <a:cs typeface="Lucida Sans Unicode"/>
              </a:rPr>
              <a:t>de </a:t>
            </a:r>
            <a:r>
              <a:rPr sz="1300" spc="-35" dirty="0">
                <a:latin typeface="Lucida Sans Unicode"/>
                <a:cs typeface="Lucida Sans Unicode"/>
              </a:rPr>
              <a:t>servicios</a:t>
            </a:r>
            <a:r>
              <a:rPr sz="1300" spc="-50" dirty="0">
                <a:latin typeface="Lucida Sans Unicode"/>
                <a:cs typeface="Lucida Sans Unicode"/>
              </a:rPr>
              <a:t> </a:t>
            </a:r>
            <a:r>
              <a:rPr sz="1300" spc="-45" dirty="0">
                <a:latin typeface="Lucida Sans Unicode"/>
                <a:cs typeface="Lucida Sans Unicode"/>
              </a:rPr>
              <a:t>externos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251539" y="3931948"/>
            <a:ext cx="2153285" cy="1479550"/>
            <a:chOff x="9251539" y="3931948"/>
            <a:chExt cx="2153285" cy="1479550"/>
          </a:xfrm>
        </p:grpSpPr>
        <p:sp>
          <p:nvSpPr>
            <p:cNvPr id="12" name="object 12"/>
            <p:cNvSpPr/>
            <p:nvPr/>
          </p:nvSpPr>
          <p:spPr>
            <a:xfrm>
              <a:off x="9257493" y="3937902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1994638" y="1467320"/>
                  </a:moveTo>
                  <a:lnTo>
                    <a:pt x="270537" y="1467320"/>
                  </a:lnTo>
                  <a:lnTo>
                    <a:pt x="224157" y="1459840"/>
                  </a:lnTo>
                  <a:lnTo>
                    <a:pt x="183877" y="1439010"/>
                  </a:lnTo>
                  <a:lnTo>
                    <a:pt x="152114" y="1407248"/>
                  </a:lnTo>
                  <a:lnTo>
                    <a:pt x="131285" y="1366968"/>
                  </a:lnTo>
                  <a:lnTo>
                    <a:pt x="123805" y="1320588"/>
                  </a:lnTo>
                  <a:lnTo>
                    <a:pt x="123805" y="155948"/>
                  </a:lnTo>
                  <a:lnTo>
                    <a:pt x="0" y="0"/>
                  </a:lnTo>
                  <a:lnTo>
                    <a:pt x="252195" y="0"/>
                  </a:lnTo>
                  <a:lnTo>
                    <a:pt x="252195" y="1137"/>
                  </a:lnTo>
                  <a:lnTo>
                    <a:pt x="258202" y="385"/>
                  </a:lnTo>
                  <a:lnTo>
                    <a:pt x="264328" y="0"/>
                  </a:lnTo>
                  <a:lnTo>
                    <a:pt x="270537" y="0"/>
                  </a:lnTo>
                  <a:lnTo>
                    <a:pt x="1994638" y="0"/>
                  </a:lnTo>
                  <a:lnTo>
                    <a:pt x="2041015" y="7480"/>
                  </a:lnTo>
                  <a:lnTo>
                    <a:pt x="2081294" y="28309"/>
                  </a:lnTo>
                  <a:lnTo>
                    <a:pt x="2113058" y="60072"/>
                  </a:lnTo>
                  <a:lnTo>
                    <a:pt x="2133889" y="100351"/>
                  </a:lnTo>
                  <a:lnTo>
                    <a:pt x="2141370" y="146732"/>
                  </a:lnTo>
                  <a:lnTo>
                    <a:pt x="2141370" y="1320588"/>
                  </a:lnTo>
                  <a:lnTo>
                    <a:pt x="2133889" y="1366968"/>
                  </a:lnTo>
                  <a:lnTo>
                    <a:pt x="2113058" y="1407248"/>
                  </a:lnTo>
                  <a:lnTo>
                    <a:pt x="2081294" y="1439010"/>
                  </a:lnTo>
                  <a:lnTo>
                    <a:pt x="2041015" y="1459840"/>
                  </a:lnTo>
                  <a:lnTo>
                    <a:pt x="1994638" y="1467320"/>
                  </a:lnTo>
                  <a:close/>
                </a:path>
              </a:pathLst>
            </a:custGeom>
            <a:solidFill>
              <a:srgbClr val="BFA2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57493" y="3937901"/>
              <a:ext cx="2141855" cy="1467485"/>
            </a:xfrm>
            <a:custGeom>
              <a:avLst/>
              <a:gdLst/>
              <a:ahLst/>
              <a:cxnLst/>
              <a:rect l="l" t="t" r="r" b="b"/>
              <a:pathLst>
                <a:path w="2141854" h="1467485">
                  <a:moveTo>
                    <a:pt x="270537" y="0"/>
                  </a:moveTo>
                  <a:lnTo>
                    <a:pt x="264328" y="0"/>
                  </a:lnTo>
                  <a:lnTo>
                    <a:pt x="258202" y="385"/>
                  </a:lnTo>
                  <a:lnTo>
                    <a:pt x="252195" y="1137"/>
                  </a:lnTo>
                  <a:lnTo>
                    <a:pt x="252195" y="0"/>
                  </a:lnTo>
                  <a:lnTo>
                    <a:pt x="0" y="0"/>
                  </a:lnTo>
                  <a:lnTo>
                    <a:pt x="123805" y="155948"/>
                  </a:lnTo>
                  <a:lnTo>
                    <a:pt x="123805" y="1320588"/>
                  </a:lnTo>
                  <a:lnTo>
                    <a:pt x="131285" y="1366968"/>
                  </a:lnTo>
                  <a:lnTo>
                    <a:pt x="152114" y="1407248"/>
                  </a:lnTo>
                  <a:lnTo>
                    <a:pt x="183877" y="1439010"/>
                  </a:lnTo>
                  <a:lnTo>
                    <a:pt x="224157" y="1459840"/>
                  </a:lnTo>
                  <a:lnTo>
                    <a:pt x="270537" y="1467320"/>
                  </a:lnTo>
                  <a:lnTo>
                    <a:pt x="1994639" y="1467320"/>
                  </a:lnTo>
                  <a:lnTo>
                    <a:pt x="2041015" y="1459840"/>
                  </a:lnTo>
                  <a:lnTo>
                    <a:pt x="2081294" y="1439010"/>
                  </a:lnTo>
                  <a:lnTo>
                    <a:pt x="2113058" y="1407248"/>
                  </a:lnTo>
                  <a:lnTo>
                    <a:pt x="2133889" y="1366968"/>
                  </a:lnTo>
                  <a:lnTo>
                    <a:pt x="2141370" y="1320588"/>
                  </a:lnTo>
                  <a:lnTo>
                    <a:pt x="2141370" y="146732"/>
                  </a:lnTo>
                  <a:lnTo>
                    <a:pt x="2133889" y="100351"/>
                  </a:lnTo>
                  <a:lnTo>
                    <a:pt x="2113058" y="60072"/>
                  </a:lnTo>
                  <a:lnTo>
                    <a:pt x="2081294" y="28309"/>
                  </a:lnTo>
                  <a:lnTo>
                    <a:pt x="2041015" y="7480"/>
                  </a:lnTo>
                  <a:lnTo>
                    <a:pt x="1994639" y="0"/>
                  </a:lnTo>
                  <a:lnTo>
                    <a:pt x="270537" y="0"/>
                  </a:lnTo>
                </a:path>
              </a:pathLst>
            </a:custGeom>
            <a:ln w="11906">
              <a:solidFill>
                <a:srgbClr val="A68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675162" y="4090222"/>
            <a:ext cx="1403350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5430" marR="255904" indent="-635" algn="ctr">
              <a:lnSpc>
                <a:spcPct val="115199"/>
              </a:lnSpc>
              <a:spcBef>
                <a:spcPts val="90"/>
              </a:spcBef>
            </a:pPr>
            <a:r>
              <a:rPr sz="1200" b="1" spc="-70" dirty="0">
                <a:solidFill>
                  <a:srgbClr val="D5D5D5"/>
                </a:solidFill>
                <a:latin typeface="Tahoma"/>
                <a:cs typeface="Tahoma"/>
              </a:rPr>
              <a:t>Decisión:</a:t>
            </a:r>
            <a:r>
              <a:rPr sz="1200" b="1" spc="-15" dirty="0">
                <a:solidFill>
                  <a:srgbClr val="D5D5D5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D5D5D5"/>
                </a:solidFill>
                <a:latin typeface="Tahoma"/>
                <a:cs typeface="Tahoma"/>
              </a:rPr>
              <a:t>IA </a:t>
            </a:r>
            <a:r>
              <a:rPr sz="1200" b="1" spc="-40" dirty="0">
                <a:solidFill>
                  <a:srgbClr val="D5D5D5"/>
                </a:solidFill>
                <a:latin typeface="Tahoma"/>
                <a:cs typeface="Tahoma"/>
              </a:rPr>
              <a:t>priorizadora</a:t>
            </a:r>
            <a:endParaRPr sz="1200">
              <a:latin typeface="Tahoma"/>
              <a:cs typeface="Tahoma"/>
            </a:endParaRPr>
          </a:p>
          <a:p>
            <a:pPr marL="12700" marR="5080" algn="ctr">
              <a:lnSpc>
                <a:spcPct val="118800"/>
              </a:lnSpc>
              <a:spcBef>
                <a:spcPts val="655"/>
              </a:spcBef>
            </a:pPr>
            <a:r>
              <a:rPr sz="13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Clasifica</a:t>
            </a:r>
            <a:r>
              <a:rPr sz="13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D5D5D5"/>
                </a:solidFill>
                <a:latin typeface="Lucida Sans Unicode"/>
                <a:cs typeface="Lucida Sans Unicode"/>
              </a:rPr>
              <a:t>y</a:t>
            </a:r>
            <a:r>
              <a:rPr sz="13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prioriza </a:t>
            </a:r>
            <a:r>
              <a:rPr sz="13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información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1974" y="5895974"/>
            <a:ext cx="3962400" cy="9525"/>
          </a:xfrm>
          <a:custGeom>
            <a:avLst/>
            <a:gdLst/>
            <a:ahLst/>
            <a:cxnLst/>
            <a:rect l="l" t="t" r="r" b="b"/>
            <a:pathLst>
              <a:path w="3962400" h="9525">
                <a:moveTo>
                  <a:pt x="3962399" y="9524"/>
                </a:moveTo>
                <a:lnTo>
                  <a:pt x="0" y="9524"/>
                </a:lnTo>
                <a:lnTo>
                  <a:pt x="0" y="0"/>
                </a:lnTo>
                <a:lnTo>
                  <a:pt x="3962399" y="0"/>
                </a:lnTo>
                <a:lnTo>
                  <a:pt x="3962399" y="9524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6000" y="5977876"/>
            <a:ext cx="354393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PyTorch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·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D-FINE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·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ONNX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·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TensorRT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9D9D9D"/>
                </a:solidFill>
                <a:latin typeface="Courier New"/>
                <a:cs typeface="Courier New"/>
              </a:rPr>
              <a:t>·</a:t>
            </a:r>
            <a:r>
              <a:rPr sz="1100" spc="45" dirty="0">
                <a:solidFill>
                  <a:srgbClr val="9D9D9D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9D9D9D"/>
                </a:solidFill>
                <a:latin typeface="Courier New"/>
                <a:cs typeface="Courier New"/>
              </a:rPr>
              <a:t>Edge </a:t>
            </a:r>
            <a:r>
              <a:rPr sz="1100" spc="-10" dirty="0">
                <a:solidFill>
                  <a:srgbClr val="9D9D9D"/>
                </a:solidFill>
                <a:latin typeface="Courier New"/>
                <a:cs typeface="Courier New"/>
              </a:rPr>
              <a:t>computing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88277" y="6445249"/>
            <a:ext cx="1962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6F6F6"/>
                </a:solidFill>
                <a:latin typeface="Courier New"/>
                <a:cs typeface="Courier New"/>
                <a:hlinkClick r:id="rId2"/>
              </a:rPr>
              <a:t>07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876800" cy="6858000"/>
            <a:chOff x="0" y="0"/>
            <a:chExt cx="48768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8767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4876800" cy="6858000"/>
            </a:xfrm>
            <a:custGeom>
              <a:avLst/>
              <a:gdLst/>
              <a:ahLst/>
              <a:cxnLst/>
              <a:rect l="l" t="t" r="r" b="b"/>
              <a:pathLst>
                <a:path w="4876800" h="6858000">
                  <a:moveTo>
                    <a:pt x="48767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876799" y="0"/>
                  </a:lnTo>
                  <a:lnTo>
                    <a:pt x="4876799" y="6857999"/>
                  </a:lnTo>
                  <a:close/>
                </a:path>
              </a:pathLst>
            </a:custGeom>
            <a:solidFill>
              <a:srgbClr val="000000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46000" y="374681"/>
            <a:ext cx="2531745" cy="146558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1220"/>
              </a:spcBef>
            </a:pPr>
            <a:r>
              <a:rPr sz="5200" spc="-625" dirty="0"/>
              <a:t>¿A</a:t>
            </a:r>
            <a:r>
              <a:rPr sz="5200" spc="-635" dirty="0"/>
              <a:t> </a:t>
            </a:r>
            <a:r>
              <a:rPr sz="5200" spc="-140" dirty="0"/>
              <a:t>quién </a:t>
            </a:r>
            <a:r>
              <a:rPr sz="5200" spc="-10" dirty="0"/>
              <a:t>ayuda?</a:t>
            </a:r>
            <a:endParaRPr sz="5200"/>
          </a:p>
        </p:txBody>
      </p:sp>
      <p:grpSp>
        <p:nvGrpSpPr>
          <p:cNvPr id="6" name="object 6"/>
          <p:cNvGrpSpPr/>
          <p:nvPr/>
        </p:nvGrpSpPr>
        <p:grpSpPr>
          <a:xfrm>
            <a:off x="561974" y="0"/>
            <a:ext cx="7972425" cy="6858000"/>
            <a:chOff x="561974" y="0"/>
            <a:chExt cx="7972425" cy="6858000"/>
          </a:xfrm>
        </p:grpSpPr>
        <p:sp>
          <p:nvSpPr>
            <p:cNvPr id="7" name="object 7"/>
            <p:cNvSpPr/>
            <p:nvPr/>
          </p:nvSpPr>
          <p:spPr>
            <a:xfrm>
              <a:off x="561974" y="2028824"/>
              <a:ext cx="990600" cy="38100"/>
            </a:xfrm>
            <a:custGeom>
              <a:avLst/>
              <a:gdLst/>
              <a:ahLst/>
              <a:cxnLst/>
              <a:rect l="l" t="t" r="r" b="b"/>
              <a:pathLst>
                <a:path w="990600" h="38100">
                  <a:moveTo>
                    <a:pt x="974075" y="38099"/>
                  </a:moveTo>
                  <a:lnTo>
                    <a:pt x="16523" y="38099"/>
                  </a:lnTo>
                  <a:lnTo>
                    <a:pt x="14093" y="37616"/>
                  </a:lnTo>
                  <a:lnTo>
                    <a:pt x="0" y="21576"/>
                  </a:lnTo>
                  <a:lnTo>
                    <a:pt x="0" y="19049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974075" y="0"/>
                  </a:lnTo>
                  <a:lnTo>
                    <a:pt x="990599" y="16523"/>
                  </a:lnTo>
                  <a:lnTo>
                    <a:pt x="990599" y="21576"/>
                  </a:lnTo>
                  <a:lnTo>
                    <a:pt x="976505" y="37616"/>
                  </a:lnTo>
                  <a:lnTo>
                    <a:pt x="974075" y="38099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799" y="0"/>
              <a:ext cx="3657599" cy="68579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76799" y="0"/>
              <a:ext cx="3657600" cy="6858000"/>
            </a:xfrm>
            <a:custGeom>
              <a:avLst/>
              <a:gdLst/>
              <a:ahLst/>
              <a:cxnLst/>
              <a:rect l="l" t="t" r="r" b="b"/>
              <a:pathLst>
                <a:path w="3657600" h="6858000">
                  <a:moveTo>
                    <a:pt x="3657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6857999"/>
                  </a:lnTo>
                  <a:close/>
                </a:path>
              </a:pathLst>
            </a:custGeom>
            <a:solidFill>
              <a:srgbClr val="000000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19650" y="274243"/>
            <a:ext cx="2800985" cy="95885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100" spc="55" dirty="0">
                <a:solidFill>
                  <a:srgbClr val="F6F6F6"/>
                </a:solidFill>
                <a:latin typeface="Courier New"/>
                <a:cs typeface="Courier New"/>
              </a:rPr>
              <a:t>SALUD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8600"/>
              </a:lnSpc>
              <a:spcBef>
                <a:spcPts val="610"/>
              </a:spcBef>
            </a:pPr>
            <a:r>
              <a:rPr sz="1900" spc="-55" dirty="0">
                <a:solidFill>
                  <a:srgbClr val="F6F6F6"/>
                </a:solidFill>
                <a:latin typeface="Lucida Sans Unicode"/>
                <a:cs typeface="Lucida Sans Unicode"/>
              </a:rPr>
              <a:t>Transporte</a:t>
            </a:r>
            <a:r>
              <a:rPr sz="1900" spc="-7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6F6F6"/>
                </a:solidFill>
                <a:latin typeface="Lucida Sans Unicode"/>
                <a:cs typeface="Lucida Sans Unicode"/>
              </a:rPr>
              <a:t>y</a:t>
            </a:r>
            <a:r>
              <a:rPr sz="19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priorización </a:t>
            </a: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de</a:t>
            </a:r>
            <a:r>
              <a:rPr sz="19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F6F6F6"/>
                </a:solidFill>
                <a:latin typeface="Lucida Sans Unicode"/>
                <a:cs typeface="Lucida Sans Unicode"/>
              </a:rPr>
              <a:t>suministros</a:t>
            </a:r>
            <a:r>
              <a:rPr sz="19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críticos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000" y="2217343"/>
            <a:ext cx="3440429" cy="6445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100" spc="65" dirty="0">
                <a:solidFill>
                  <a:srgbClr val="F6F6F6"/>
                </a:solidFill>
                <a:latin typeface="Courier New"/>
                <a:cs typeface="Courier New"/>
              </a:rPr>
              <a:t>EMERGENCIAS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900" spc="-65" dirty="0">
                <a:solidFill>
                  <a:srgbClr val="F6F6F6"/>
                </a:solidFill>
                <a:latin typeface="Lucida Sans Unicode"/>
                <a:cs typeface="Lucida Sans Unicode"/>
              </a:rPr>
              <a:t>Apoyo</a:t>
            </a: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6F6F6"/>
                </a:solidFill>
                <a:latin typeface="Lucida Sans Unicode"/>
                <a:cs typeface="Lucida Sans Unicode"/>
              </a:rPr>
              <a:t>a</a:t>
            </a: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70" dirty="0">
                <a:solidFill>
                  <a:srgbClr val="F6F6F6"/>
                </a:solidFill>
                <a:latin typeface="Lucida Sans Unicode"/>
                <a:cs typeface="Lucida Sans Unicode"/>
              </a:rPr>
              <a:t>búsqueda</a:t>
            </a: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6F6F6"/>
                </a:solidFill>
                <a:latin typeface="Lucida Sans Unicode"/>
                <a:cs typeface="Lucida Sans Unicode"/>
              </a:rPr>
              <a:t>y</a:t>
            </a: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F6F6F6"/>
                </a:solidFill>
                <a:latin typeface="Lucida Sans Unicode"/>
                <a:cs typeface="Lucida Sans Unicode"/>
              </a:rPr>
              <a:t>respuesta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34399" y="0"/>
            <a:ext cx="3657600" cy="6858000"/>
            <a:chOff x="8534399" y="0"/>
            <a:chExt cx="3657600" cy="685800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9" y="0"/>
              <a:ext cx="3657599" cy="6857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34399" y="0"/>
              <a:ext cx="3657600" cy="6858000"/>
            </a:xfrm>
            <a:custGeom>
              <a:avLst/>
              <a:gdLst/>
              <a:ahLst/>
              <a:cxnLst/>
              <a:rect l="l" t="t" r="r" b="b"/>
              <a:pathLst>
                <a:path w="3657600" h="6858000">
                  <a:moveTo>
                    <a:pt x="3657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6857999"/>
                  </a:lnTo>
                  <a:close/>
                </a:path>
              </a:pathLst>
            </a:custGeom>
            <a:solidFill>
              <a:srgbClr val="000000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877250" y="274243"/>
            <a:ext cx="2164080" cy="12827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100" spc="65" dirty="0">
                <a:solidFill>
                  <a:srgbClr val="F6F6F6"/>
                </a:solidFill>
                <a:latin typeface="Courier New"/>
                <a:cs typeface="Courier New"/>
              </a:rPr>
              <a:t>ZONAS</a:t>
            </a:r>
            <a:r>
              <a:rPr sz="1100" spc="185" dirty="0">
                <a:solidFill>
                  <a:srgbClr val="F6F6F6"/>
                </a:solidFill>
                <a:latin typeface="Courier New"/>
                <a:cs typeface="Courier New"/>
              </a:rPr>
              <a:t> </a:t>
            </a:r>
            <a:r>
              <a:rPr sz="1100" spc="60" dirty="0">
                <a:solidFill>
                  <a:srgbClr val="F6F6F6"/>
                </a:solidFill>
                <a:latin typeface="Courier New"/>
                <a:cs typeface="Courier New"/>
              </a:rPr>
              <a:t>AISLADAS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0200"/>
              </a:lnSpc>
              <a:spcBef>
                <a:spcPts val="570"/>
              </a:spcBef>
            </a:pPr>
            <a:r>
              <a:rPr sz="1900" spc="-80" dirty="0">
                <a:solidFill>
                  <a:srgbClr val="F6F6F6"/>
                </a:solidFill>
                <a:latin typeface="Lucida Sans Unicode"/>
                <a:cs typeface="Lucida Sans Unicode"/>
              </a:rPr>
              <a:t>Operación</a:t>
            </a:r>
            <a:r>
              <a:rPr sz="1900" spc="-65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90" dirty="0">
                <a:solidFill>
                  <a:srgbClr val="F6F6F6"/>
                </a:solidFill>
                <a:latin typeface="Lucida Sans Unicode"/>
                <a:cs typeface="Lucida Sans Unicode"/>
              </a:rPr>
              <a:t>donde</a:t>
            </a:r>
            <a:r>
              <a:rPr sz="1900" spc="-60" dirty="0">
                <a:solidFill>
                  <a:srgbClr val="F6F6F6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6F6F6"/>
                </a:solidFill>
                <a:latin typeface="Lucida Sans Unicode"/>
                <a:cs typeface="Lucida Sans Unicode"/>
              </a:rPr>
              <a:t>la </a:t>
            </a:r>
            <a:r>
              <a:rPr sz="1900" spc="-45" dirty="0">
                <a:solidFill>
                  <a:srgbClr val="F6F6F6"/>
                </a:solidFill>
                <a:latin typeface="Lucida Sans Unicode"/>
                <a:cs typeface="Lucida Sans Unicode"/>
              </a:rPr>
              <a:t>infraestructura</a:t>
            </a:r>
            <a:r>
              <a:rPr sz="1900" spc="-25" dirty="0">
                <a:solidFill>
                  <a:srgbClr val="F6F6F6"/>
                </a:solidFill>
                <a:latin typeface="Lucida Sans Unicode"/>
                <a:cs typeface="Lucida Sans Unicode"/>
              </a:rPr>
              <a:t> es </a:t>
            </a:r>
            <a:r>
              <a:rPr sz="1900" spc="-10" dirty="0">
                <a:solidFill>
                  <a:srgbClr val="F6F6F6"/>
                </a:solidFill>
                <a:latin typeface="Lucida Sans Unicode"/>
                <a:cs typeface="Lucida Sans Unicode"/>
              </a:rPr>
              <a:t>limitada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9599" y="4952999"/>
            <a:ext cx="6667500" cy="1323975"/>
          </a:xfrm>
          <a:custGeom>
            <a:avLst/>
            <a:gdLst/>
            <a:ahLst/>
            <a:cxnLst/>
            <a:rect l="l" t="t" r="r" b="b"/>
            <a:pathLst>
              <a:path w="6667500" h="1323975">
                <a:moveTo>
                  <a:pt x="6646844" y="1323974"/>
                </a:moveTo>
                <a:lnTo>
                  <a:pt x="20654" y="1323974"/>
                </a:lnTo>
                <a:lnTo>
                  <a:pt x="17617" y="1323370"/>
                </a:lnTo>
                <a:lnTo>
                  <a:pt x="0" y="1303319"/>
                </a:lnTo>
                <a:lnTo>
                  <a:pt x="0" y="1300162"/>
                </a:lnTo>
                <a:lnTo>
                  <a:pt x="0" y="20654"/>
                </a:lnTo>
                <a:lnTo>
                  <a:pt x="20654" y="0"/>
                </a:lnTo>
                <a:lnTo>
                  <a:pt x="6646844" y="0"/>
                </a:lnTo>
                <a:lnTo>
                  <a:pt x="6667498" y="20654"/>
                </a:lnTo>
                <a:lnTo>
                  <a:pt x="6667498" y="1303319"/>
                </a:lnTo>
                <a:lnTo>
                  <a:pt x="6649881" y="1323370"/>
                </a:lnTo>
                <a:lnTo>
                  <a:pt x="6646844" y="1323974"/>
                </a:lnTo>
                <a:close/>
              </a:path>
            </a:pathLst>
          </a:custGeom>
          <a:solidFill>
            <a:srgbClr val="040404">
              <a:alpha val="780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0800" y="5149850"/>
            <a:ext cx="6058535" cy="86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Menos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tiempo</a:t>
            </a:r>
            <a:r>
              <a:rPr sz="18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buscar.</a:t>
            </a:r>
            <a:r>
              <a:rPr sz="18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Más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información</a:t>
            </a:r>
            <a:r>
              <a:rPr sz="18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decidir.</a:t>
            </a:r>
            <a:endParaRPr sz="1800">
              <a:latin typeface="Lucida Sans Unicode"/>
              <a:cs typeface="Lucida Sans Unicode"/>
            </a:endParaRPr>
          </a:p>
          <a:p>
            <a:pPr marL="12700" marR="5080">
              <a:lnSpc>
                <a:spcPct val="108000"/>
              </a:lnSpc>
              <a:spcBef>
                <a:spcPts val="1585"/>
              </a:spcBef>
            </a:pP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Busca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D9D9D"/>
                </a:solidFill>
                <a:latin typeface="Lucida Sans Unicode"/>
                <a:cs typeface="Lucida Sans Unicode"/>
              </a:rPr>
              <a:t>reducir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D9D9D"/>
                </a:solidFill>
                <a:latin typeface="Lucida Sans Unicode"/>
                <a:cs typeface="Lucida Sans Unicode"/>
              </a:rPr>
              <a:t>tiempos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de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respuesta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y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mejorar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la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D9D9D"/>
                </a:solidFill>
                <a:latin typeface="Lucida Sans Unicode"/>
                <a:cs typeface="Lucida Sans Unicode"/>
              </a:rPr>
              <a:t>información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9D9D9D"/>
                </a:solidFill>
                <a:latin typeface="Lucida Sans Unicode"/>
                <a:cs typeface="Lucida Sans Unicode"/>
              </a:rPr>
              <a:t>disponible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para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los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9D9D9D"/>
                </a:solidFill>
                <a:latin typeface="Lucida Sans Unicode"/>
                <a:cs typeface="Lucida Sans Unicode"/>
              </a:rPr>
              <a:t>equipos</a:t>
            </a:r>
            <a:r>
              <a:rPr sz="1100" spc="-4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D9D9D"/>
                </a:solidFill>
                <a:latin typeface="Lucida Sans Unicode"/>
                <a:cs typeface="Lucida Sans Unicode"/>
              </a:rPr>
              <a:t>de </a:t>
            </a: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emergencia.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899" y="590613"/>
            <a:ext cx="18307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65" dirty="0">
                <a:solidFill>
                  <a:srgbClr val="B4B4B4"/>
                </a:solidFill>
                <a:latin typeface="Courier New"/>
                <a:cs typeface="Courier New"/>
              </a:rPr>
              <a:t>ESTADO</a:t>
            </a:r>
            <a:r>
              <a:rPr sz="1100" spc="200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spc="50" dirty="0">
                <a:solidFill>
                  <a:srgbClr val="B4B4B4"/>
                </a:solidFill>
                <a:latin typeface="Courier New"/>
                <a:cs typeface="Courier New"/>
              </a:rPr>
              <a:t>DEL</a:t>
            </a:r>
            <a:r>
              <a:rPr sz="1100" spc="200" dirty="0">
                <a:solidFill>
                  <a:srgbClr val="B4B4B4"/>
                </a:solidFill>
                <a:latin typeface="Courier New"/>
                <a:cs typeface="Courier New"/>
              </a:rPr>
              <a:t> </a:t>
            </a:r>
            <a:r>
              <a:rPr sz="1100" spc="60" dirty="0">
                <a:solidFill>
                  <a:srgbClr val="B4B4B4"/>
                </a:solidFill>
                <a:latin typeface="Courier New"/>
                <a:cs typeface="Courier New"/>
              </a:rPr>
              <a:t>PROYECTO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899" y="790638"/>
            <a:ext cx="50063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75" dirty="0">
                <a:solidFill>
                  <a:srgbClr val="ECECEC"/>
                </a:solidFill>
                <a:latin typeface="Tahoma"/>
                <a:cs typeface="Tahoma"/>
              </a:rPr>
              <a:t>Validación</a:t>
            </a:r>
            <a:r>
              <a:rPr sz="3500" spc="-210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dirty="0">
                <a:solidFill>
                  <a:srgbClr val="ECECEC"/>
                </a:solidFill>
                <a:latin typeface="Tahoma"/>
                <a:cs typeface="Tahoma"/>
              </a:rPr>
              <a:t>y</a:t>
            </a:r>
            <a:r>
              <a:rPr sz="3500" spc="-204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254" dirty="0">
                <a:solidFill>
                  <a:srgbClr val="ECECEC"/>
                </a:solidFill>
                <a:latin typeface="Tahoma"/>
                <a:cs typeface="Tahoma"/>
              </a:rPr>
              <a:t>hoja</a:t>
            </a:r>
            <a:r>
              <a:rPr sz="3500" spc="-210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220" dirty="0">
                <a:solidFill>
                  <a:srgbClr val="ECECEC"/>
                </a:solidFill>
                <a:latin typeface="Tahoma"/>
                <a:cs typeface="Tahoma"/>
              </a:rPr>
              <a:t>de</a:t>
            </a:r>
            <a:r>
              <a:rPr sz="3500" spc="-204" dirty="0">
                <a:solidFill>
                  <a:srgbClr val="ECECEC"/>
                </a:solidFill>
                <a:latin typeface="Tahoma"/>
                <a:cs typeface="Tahoma"/>
              </a:rPr>
              <a:t> </a:t>
            </a:r>
            <a:r>
              <a:rPr sz="3500" spc="-85" dirty="0">
                <a:solidFill>
                  <a:srgbClr val="ECECEC"/>
                </a:solidFill>
                <a:latin typeface="Tahoma"/>
                <a:cs typeface="Tahoma"/>
              </a:rPr>
              <a:t>ruta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899" y="1524063"/>
            <a:ext cx="31140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BioScout</a:t>
            </a:r>
            <a:r>
              <a:rPr sz="1100" spc="-55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está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en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fase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D9D9D"/>
                </a:solidFill>
                <a:latin typeface="Lucida Sans Unicode"/>
                <a:cs typeface="Lucida Sans Unicode"/>
              </a:rPr>
              <a:t>de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D9D9D"/>
                </a:solidFill>
                <a:latin typeface="Lucida Sans Unicode"/>
                <a:cs typeface="Lucida Sans Unicode"/>
              </a:rPr>
              <a:t>prototipo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D9D9D"/>
                </a:solidFill>
                <a:latin typeface="Lucida Sans Unicode"/>
                <a:cs typeface="Lucida Sans Unicode"/>
              </a:rPr>
              <a:t>y</a:t>
            </a:r>
            <a:r>
              <a:rPr sz="1100" spc="-50" dirty="0">
                <a:solidFill>
                  <a:srgbClr val="9D9D9D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D9D9D"/>
                </a:solidFill>
                <a:latin typeface="Lucida Sans Unicode"/>
                <a:cs typeface="Lucida Sans Unicode"/>
              </a:rPr>
              <a:t>validación.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899" y="2537180"/>
            <a:ext cx="3075940" cy="13049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25" dirty="0">
                <a:solidFill>
                  <a:srgbClr val="B4B4B4"/>
                </a:solidFill>
                <a:latin typeface="Courier New"/>
                <a:cs typeface="Courier New"/>
              </a:rPr>
              <a:t>HOY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9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Prototipo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  <a:spcBef>
                <a:spcPts val="1120"/>
              </a:spcBef>
            </a:pP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Sistema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de percepción, </a:t>
            </a:r>
            <a:r>
              <a:rPr sz="1500" spc="-105" dirty="0">
                <a:solidFill>
                  <a:srgbClr val="D5D5D5"/>
                </a:solidFill>
                <a:latin typeface="Lucida Sans Unicode"/>
                <a:cs typeface="Lucida Sans Unicode"/>
              </a:rPr>
              <a:t>IA,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consola,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simulación.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62437" y="1952625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9524" y="2190749"/>
                </a:moveTo>
                <a:lnTo>
                  <a:pt x="0" y="2190749"/>
                </a:lnTo>
                <a:lnTo>
                  <a:pt x="0" y="0"/>
                </a:lnTo>
                <a:lnTo>
                  <a:pt x="9524" y="0"/>
                </a:lnTo>
                <a:lnTo>
                  <a:pt x="9524" y="2190749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83100" y="2537180"/>
            <a:ext cx="3138805" cy="15811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60" dirty="0">
                <a:solidFill>
                  <a:srgbClr val="B4B4B4"/>
                </a:solidFill>
                <a:latin typeface="Courier New"/>
                <a:cs typeface="Courier New"/>
              </a:rPr>
              <a:t>SIGUIENTE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9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Validación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8700"/>
              </a:lnSpc>
              <a:spcBef>
                <a:spcPts val="1085"/>
              </a:spcBef>
            </a:pPr>
            <a:r>
              <a:rPr sz="1500" spc="-25" dirty="0">
                <a:solidFill>
                  <a:srgbClr val="D5D5D5"/>
                </a:solidFill>
                <a:latin typeface="Lucida Sans Unicode"/>
                <a:cs typeface="Lucida Sans Unicode"/>
              </a:rPr>
              <a:t>Escenarios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controlados,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pruebas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25" dirty="0">
                <a:solidFill>
                  <a:srgbClr val="D5D5D5"/>
                </a:solidFill>
                <a:latin typeface="Lucida Sans Unicode"/>
                <a:cs typeface="Lucida Sans Unicode"/>
              </a:rPr>
              <a:t>de 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detección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dirty="0">
                <a:solidFill>
                  <a:srgbClr val="D5D5D5"/>
                </a:solidFill>
                <a:latin typeface="Lucida Sans Unicode"/>
                <a:cs typeface="Lucida Sans Unicode"/>
              </a:rPr>
              <a:t>y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comunicación, </a:t>
            </a: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evaluación</a:t>
            </a:r>
            <a:r>
              <a:rPr sz="15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de</a:t>
            </a:r>
            <a:r>
              <a:rPr sz="1500" spc="-4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precisión.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0037" y="1952625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9524" y="2190749"/>
                </a:moveTo>
                <a:lnTo>
                  <a:pt x="0" y="2190749"/>
                </a:lnTo>
                <a:lnTo>
                  <a:pt x="0" y="0"/>
                </a:lnTo>
                <a:lnTo>
                  <a:pt x="9524" y="0"/>
                </a:lnTo>
                <a:lnTo>
                  <a:pt x="9524" y="2190749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40700" y="2537180"/>
            <a:ext cx="2911475" cy="13049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55" dirty="0">
                <a:solidFill>
                  <a:srgbClr val="B4B4B4"/>
                </a:solidFill>
                <a:latin typeface="Courier New"/>
                <a:cs typeface="Courier New"/>
              </a:rPr>
              <a:t>FUTURO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9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Despliegue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  <a:spcBef>
                <a:spcPts val="1120"/>
              </a:spcBef>
            </a:pP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Integración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50" dirty="0">
                <a:solidFill>
                  <a:srgbClr val="D5D5D5"/>
                </a:solidFill>
                <a:latin typeface="Lucida Sans Unicode"/>
                <a:cs typeface="Lucida Sans Unicode"/>
              </a:rPr>
              <a:t>con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10" dirty="0">
                <a:solidFill>
                  <a:srgbClr val="D5D5D5"/>
                </a:solidFill>
                <a:latin typeface="Lucida Sans Unicode"/>
                <a:cs typeface="Lucida Sans Unicode"/>
              </a:rPr>
              <a:t>organizaciones, </a:t>
            </a:r>
            <a:r>
              <a:rPr sz="1500" spc="-40" dirty="0">
                <a:solidFill>
                  <a:srgbClr val="D5D5D5"/>
                </a:solidFill>
                <a:latin typeface="Lucida Sans Unicode"/>
                <a:cs typeface="Lucida Sans Unicode"/>
              </a:rPr>
              <a:t>pruebas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de </a:t>
            </a:r>
            <a:r>
              <a:rPr sz="1500" spc="-60" dirty="0">
                <a:solidFill>
                  <a:srgbClr val="D5D5D5"/>
                </a:solidFill>
                <a:latin typeface="Lucida Sans Unicode"/>
                <a:cs typeface="Lucida Sans Unicode"/>
              </a:rPr>
              <a:t>campo,</a:t>
            </a:r>
            <a:r>
              <a:rPr sz="1500" spc="-65" dirty="0">
                <a:solidFill>
                  <a:srgbClr val="D5D5D5"/>
                </a:solidFill>
                <a:latin typeface="Lucida Sans Unicode"/>
                <a:cs typeface="Lucida Sans Unicode"/>
              </a:rPr>
              <a:t> </a:t>
            </a:r>
            <a:r>
              <a:rPr sz="1500" spc="-55" dirty="0">
                <a:solidFill>
                  <a:srgbClr val="D5D5D5"/>
                </a:solidFill>
                <a:latin typeface="Lucida Sans Unicode"/>
                <a:cs typeface="Lucida Sans Unicode"/>
              </a:rPr>
              <a:t>escalabilidad.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8277" y="6445249"/>
            <a:ext cx="1962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6F6F6"/>
                </a:solidFill>
                <a:latin typeface="Courier New"/>
                <a:cs typeface="Courier New"/>
                <a:hlinkClick r:id="rId2"/>
              </a:rPr>
              <a:t>09</a:t>
            </a:r>
            <a:endParaRPr sz="1050">
              <a:latin typeface="Courier New"/>
              <a:cs typeface="Courier New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EAA68A9-5023-A450-43D9-616E7E62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9" y="1952625"/>
            <a:ext cx="680526" cy="58455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A2F03B0-D321-19BC-6823-A63EB53C4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685" y="1997431"/>
            <a:ext cx="539749" cy="53974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2304A69-1A52-5F36-46C2-F5BAA62CF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526" y="2077876"/>
            <a:ext cx="527076" cy="4470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1620"/>
              </a:spcBef>
            </a:pPr>
            <a:r>
              <a:rPr spc="-350" dirty="0"/>
              <a:t>Las</a:t>
            </a:r>
            <a:r>
              <a:rPr spc="-630" dirty="0"/>
              <a:t> </a:t>
            </a:r>
            <a:r>
              <a:rPr spc="-140" dirty="0"/>
              <a:t>catástrofes </a:t>
            </a:r>
            <a:r>
              <a:rPr spc="-60" dirty="0"/>
              <a:t>no</a:t>
            </a:r>
            <a:r>
              <a:rPr spc="-625" dirty="0"/>
              <a:t> </a:t>
            </a:r>
            <a:r>
              <a:rPr spc="-10" dirty="0"/>
              <a:t>avisan.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4599" y="504825"/>
            <a:ext cx="1714499" cy="1619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8174" y="2552699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1793225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1793225" y="0"/>
                </a:lnTo>
                <a:lnTo>
                  <a:pt x="1809749" y="16523"/>
                </a:lnTo>
                <a:lnTo>
                  <a:pt x="1809749" y="21576"/>
                </a:lnTo>
                <a:lnTo>
                  <a:pt x="1795655" y="37616"/>
                </a:lnTo>
                <a:lnTo>
                  <a:pt x="1793225" y="38099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Pero</a:t>
            </a:r>
            <a:r>
              <a:rPr spc="-85" dirty="0"/>
              <a:t> </a:t>
            </a:r>
            <a:r>
              <a:rPr spc="-70" dirty="0"/>
              <a:t>podemos</a:t>
            </a:r>
            <a:r>
              <a:rPr spc="-85" dirty="0"/>
              <a:t> </a:t>
            </a:r>
            <a:r>
              <a:rPr spc="-20" dirty="0"/>
              <a:t>estar</a:t>
            </a:r>
            <a:r>
              <a:rPr spc="-85" dirty="0"/>
              <a:t> </a:t>
            </a:r>
            <a:r>
              <a:rPr spc="-10" dirty="0"/>
              <a:t>preparados.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800" spc="-80" dirty="0"/>
              <a:t>Detectar.</a:t>
            </a:r>
            <a:r>
              <a:rPr sz="1800" spc="-35" dirty="0"/>
              <a:t> </a:t>
            </a:r>
            <a:r>
              <a:rPr sz="1800" spc="-75" dirty="0"/>
              <a:t>Localizar.</a:t>
            </a:r>
            <a:r>
              <a:rPr sz="1800" spc="-35" dirty="0"/>
              <a:t> </a:t>
            </a:r>
            <a:r>
              <a:rPr sz="1800" spc="-10" dirty="0"/>
              <a:t>Responder.</a:t>
            </a:r>
            <a:endParaRPr sz="1800"/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100" spc="70" dirty="0">
                <a:latin typeface="Courier New"/>
                <a:cs typeface="Courier New"/>
              </a:rPr>
              <a:t>BIOSCOUT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—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75" dirty="0">
                <a:latin typeface="Courier New"/>
                <a:cs typeface="Courier New"/>
              </a:rPr>
              <a:t>INTELIGENCIA</a:t>
            </a:r>
            <a:r>
              <a:rPr sz="1100" spc="200" dirty="0">
                <a:latin typeface="Courier New"/>
                <a:cs typeface="Courier New"/>
              </a:rPr>
              <a:t> </a:t>
            </a:r>
            <a:r>
              <a:rPr sz="1100" spc="60" dirty="0">
                <a:latin typeface="Courier New"/>
                <a:cs typeface="Courier New"/>
              </a:rPr>
              <a:t>PARA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70" dirty="0">
                <a:latin typeface="Courier New"/>
                <a:cs typeface="Courier New"/>
              </a:rPr>
              <a:t>RESPONDER</a:t>
            </a:r>
            <a:r>
              <a:rPr sz="1100" spc="200" dirty="0">
                <a:latin typeface="Courier New"/>
                <a:cs typeface="Courier New"/>
              </a:rPr>
              <a:t> </a:t>
            </a:r>
            <a:r>
              <a:rPr sz="1100" spc="65" dirty="0">
                <a:latin typeface="Courier New"/>
                <a:cs typeface="Courier New"/>
              </a:rPr>
              <a:t>CUANDO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50" dirty="0">
                <a:latin typeface="Courier New"/>
                <a:cs typeface="Courier New"/>
              </a:rPr>
              <a:t>MÁS</a:t>
            </a:r>
            <a:r>
              <a:rPr sz="1100" spc="200" dirty="0">
                <a:latin typeface="Courier New"/>
                <a:cs typeface="Courier New"/>
              </a:rPr>
              <a:t> </a:t>
            </a:r>
            <a:r>
              <a:rPr sz="1100" spc="60" dirty="0">
                <a:latin typeface="Courier New"/>
                <a:cs typeface="Courier New"/>
              </a:rPr>
              <a:t>IMPORTA.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2850"/>
              </a:lnSpc>
              <a:spcBef>
                <a:spcPts val="75"/>
              </a:spcBef>
            </a:pPr>
            <a:r>
              <a:rPr sz="1100" spc="75" dirty="0">
                <a:latin typeface="Courier New"/>
                <a:cs typeface="Courier New"/>
              </a:rPr>
              <a:t>INTEGRANTES:</a:t>
            </a:r>
            <a:r>
              <a:rPr sz="1100" spc="190" dirty="0">
                <a:latin typeface="Courier New"/>
                <a:cs typeface="Courier New"/>
              </a:rPr>
              <a:t> </a:t>
            </a:r>
            <a:r>
              <a:rPr sz="1100" spc="70" dirty="0">
                <a:latin typeface="Courier New"/>
                <a:cs typeface="Courier New"/>
              </a:rPr>
              <a:t>VALENTIN</a:t>
            </a:r>
            <a:r>
              <a:rPr sz="1100" spc="190" dirty="0">
                <a:latin typeface="Courier New"/>
                <a:cs typeface="Courier New"/>
              </a:rPr>
              <a:t> </a:t>
            </a:r>
            <a:r>
              <a:rPr sz="1100" spc="65" dirty="0">
                <a:latin typeface="Courier New"/>
                <a:cs typeface="Courier New"/>
              </a:rPr>
              <a:t>GARCIA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65" dirty="0">
                <a:latin typeface="Courier New"/>
                <a:cs typeface="Courier New"/>
              </a:rPr>
              <a:t>DUEÑAS</a:t>
            </a:r>
            <a:r>
              <a:rPr sz="1100" spc="1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190" dirty="0">
                <a:latin typeface="Courier New"/>
                <a:cs typeface="Courier New"/>
              </a:rPr>
              <a:t> </a:t>
            </a:r>
            <a:r>
              <a:rPr sz="1100" spc="65" dirty="0">
                <a:latin typeface="Courier New"/>
                <a:cs typeface="Courier New"/>
              </a:rPr>
              <a:t>JHOAO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65" dirty="0">
                <a:latin typeface="Courier New"/>
                <a:cs typeface="Courier New"/>
              </a:rPr>
              <a:t>LOPEZ</a:t>
            </a:r>
            <a:r>
              <a:rPr sz="1100" spc="1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60" dirty="0">
                <a:latin typeface="Courier New"/>
                <a:cs typeface="Courier New"/>
              </a:rPr>
              <a:t>ARON</a:t>
            </a:r>
            <a:r>
              <a:rPr sz="1100" spc="190" dirty="0">
                <a:latin typeface="Courier New"/>
                <a:cs typeface="Courier New"/>
              </a:rPr>
              <a:t> </a:t>
            </a:r>
            <a:r>
              <a:rPr sz="1100" spc="55" dirty="0">
                <a:latin typeface="Courier New"/>
                <a:cs typeface="Courier New"/>
              </a:rPr>
              <a:t>AYALA </a:t>
            </a:r>
            <a:r>
              <a:rPr sz="1100" spc="65" dirty="0">
                <a:latin typeface="Courier New"/>
                <a:cs typeface="Courier New"/>
              </a:rPr>
              <a:t>TUTOR:</a:t>
            </a:r>
            <a:r>
              <a:rPr sz="1100" spc="195" dirty="0">
                <a:latin typeface="Courier New"/>
                <a:cs typeface="Courier New"/>
              </a:rPr>
              <a:t> </a:t>
            </a:r>
            <a:r>
              <a:rPr sz="1100" spc="70" dirty="0">
                <a:latin typeface="Courier New"/>
                <a:cs typeface="Courier New"/>
              </a:rPr>
              <a:t>CHARLEN</a:t>
            </a:r>
            <a:r>
              <a:rPr sz="1100" spc="200" dirty="0">
                <a:latin typeface="Courier New"/>
                <a:cs typeface="Courier New"/>
              </a:rPr>
              <a:t> </a:t>
            </a:r>
            <a:r>
              <a:rPr sz="1100" spc="65" dirty="0">
                <a:latin typeface="Courier New"/>
                <a:cs typeface="Courier New"/>
              </a:rPr>
              <a:t>CALERO</a:t>
            </a:r>
            <a:r>
              <a:rPr sz="1100" spc="20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H.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6F6F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418</Words>
  <Application>Microsoft Office PowerPoint</Application>
  <PresentationFormat>Panorámica</PresentationFormat>
  <Paragraphs>92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Courier New</vt:lpstr>
      <vt:lpstr>Lucida Sans Unicode</vt:lpstr>
      <vt:lpstr>Tahoma</vt:lpstr>
      <vt:lpstr>Times New Roman</vt:lpstr>
      <vt:lpstr>Office Theme</vt:lpstr>
      <vt:lpstr>Cuando la tierra tiembla...</vt:lpstr>
      <vt:lpstr>¿Quién avisa? ¿Quién responde?</vt:lpstr>
      <vt:lpstr>El problema no es solo el terremoto.</vt:lpstr>
      <vt:lpstr>¿Qué queremos resolver?</vt:lpstr>
      <vt:lpstr>BioScout Inteligencia aérea para respuesta ante emergencias.</vt:lpstr>
      <vt:lpstr>Así funciona BioScout</vt:lpstr>
      <vt:lpstr>La inteligencia detrás</vt:lpstr>
      <vt:lpstr>¿A quién ayuda?</vt:lpstr>
      <vt:lpstr>Validación y hoja de ruta</vt:lpstr>
      <vt:lpstr>Las catástrofes no avisan.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AYALA LÓPEZ, ARON EMILIO</cp:lastModifiedBy>
  <cp:revision>1</cp:revision>
  <dcterms:created xsi:type="dcterms:W3CDTF">2026-10-11T00:15:16Z</dcterms:created>
  <dcterms:modified xsi:type="dcterms:W3CDTF">2026-10-11T00:51:36Z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2026-09-20T00:00:00Z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2026-10-11T00:00:00Z</vt:filetime>
  </property>
  <property fmtid="{D5CDD505-2E9C-101B-9397-08002B2CF9AE}" pid="6" name="Producer">
    <vt:lpwstr>pdf-lib (https://github.com/Hopding/pdf-lib)</vt:lpwstr>
  </property>
</Properties>
</file>